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Presentador: Paul Bazan.
Buenas tardes. Somos el Grupo 1 de la Maestría en Inteligencia Artificial de la UNI. Presentaremos nuestro examen parcial: un sistema de aprendizaje profundo para clasificar llantas dañadas mediante reconocimiento de textura, comparando una CNN diseñada desde cero con un ResNet-50 con transferencia de aprendizaje. La exposición dura aproximadamente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Presentador: Paul Bazan.
La inspección visual de llantas es una tarea de alto impacto en seguridad vial pero costosa y subjetiva. Nuestro objetivo es construir un clasificador binario (normal vs cracked), pero no nos quedamos ahí: comparamos dos arquitecturas, analizamos el desbalance de clases (que en este conjunto presenta un comportamiento muy interesante), interpretamos las decisiones con Grad-CAM y hacemos un análisis cualitativo de fallos.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Presentadora: Valeria Bulege.
El dataset tiene 1028 imágenes, ya particionado oficialmente. Lo descargamos desde Harvard Dataverse, que es el origen abierto del mismo conjunto que está en Kaggle (idénticas imágenes y mismo split).
El hallazgo MÁS IMPORTANTE de esta diapositiva: el desbalance entre clases se INVIERTE entre entrenamiento (mayoría normal) y prueba (mayoría cracked). Esto va a explicar por qué nuestras métricas de validación parecen muy buenas pero las de test son más modestas. Volveremos a este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Presentadora: Valeria Bulege.
Construimos un pipeline de cinco etapas reproducible con un solo comando.
Detalle clave: como el entorno es CPU con un solo núcleo (sin GPU), no podíamos decodificar 720 MB de JPG en cada época. Por eso decodificamos UNA sola vez y cacheamos como tensores uint8 (~95 MB en RAM). Esto bajó el tiempo por época en un factor 10. Además, los aumentos son sin remuestreo: padding+recorte aleatorio y volteos. Muy barato en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Presentador: Oscar Chaíña.
Comparamos dos enfoques contrastantes. 
A la izquierda, nuestra CNN propia: ~0.7 M de parámetros, residual ligera, pensada para texturas. El stem con stride 2 + MaxPool baja muy rápido la resolución para reducir cómputo. GAP en vez de aplanado para reducir sobreajuste.
A la derecha, ResNet-50 preentrenada en ImageNet con fine-tuning parcial. Solo entrenamos las últimas capas (layer4 y fc): unos 15M de parámetros activos sobre los 23.5M. Esto preserva los detectores genéricos de ImageNet, reduce sobreajuste y acelera el entrenamiento en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Presentador: Oscar Chaíña.
Para mitigar el desbalance evaluamos tres estrategias.
1) Entropía cruzada SIMPLE: nuestra línea base sin mitigar. Es importante tenerla para medir el efecto REAL de las demás.
2) Entropía cruzada PONDERADA: pesos inversamente proporcionales a la frecuencia de clase.
3) PÉRDIDA FOCAL (Lin et al. 2017): la fórmula está abajo. La idea es enfocar el aprendizaje en los ejemplos difíciles (donde el modelo aún no tiene alta confianza), lo cual ayuda implícitamente a la clase minoritaria. Usamos gamma=2 y alpha por clase.
En la diapositiva de resultados veremos cuál funcionó mejor en este conjunto.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Presentador: Elias Diaz.
Vamos a los resultados. La tabla muestra el desempeño en el TEST oficial (325 imágenes).
ResNet-50 con transfer learning gana en todas las métricas con un AUC-ROC de 0.946, frente al 0.764 de la CNN propia. La curva ROC a la derecha lo confirma visualmente: la curva naranja domina toda la azul.
Lectura clave: hay un GAP entre AUC y exactitud. Un AUC de 0.95 significa que el modelo ORDENA muy bien los ejemplos por probabilidad. Pero la exactitud (0.782) con el umbral por defecto de 0.5 no es tan alta. Esto sugiere que el umbral está mal calibrado para la distribución del test, que como vimos es muy distinta a la del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Presentador: Elias Diaz.
Las matrices de confusión revelan el patrón de errores. La fila superior es la clase 'cracked' real.
En la CNN propia: de 210 llantas dañadas, detectó 111 correctamente y dejó pasar 99 (falsos negativos). Solo 15 falsos positivos.
En ResNet-50: detectó 145 dañadas, dejó pasar 65 (mejora del 34% en falsos negativos respecto de la CNN propia). Solo 6 falsos positivos (mejora del 60%).
La moraleja crítica: ambos modelos prefieren NO sonar la alarma. Para una aplicación de seguridad esto es exactamente lo contrario de lo que queremos. Necesitaríamos recalibrar el umbral hacia más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Presentador: Miguel Tasayco.
Estudio de ablación sobre la CNN propia, dos factores.
FACTOR 1 (aumento de datos): efecto moderado. El aumento mejora ligeramente recall y F1, pero curiosamente el AUC es mayor sin aumento. La razón: con tan poco dato y aumentos puramente geométricos, la ganancia es limitada. Esto sugiere que aumentos específicos de textura (ej. recortes locales de alta resolución) podrían ayudar más.
FACTOR 2 (función de pérdida): el ganador claro es la PÉRDIDA FOCAL. Mejora el recall de la clase de riesgo de 0.562 a 0.605, lo que en una aplicación de seguridad es valioso. Aumenta F1 a 0.683. La ponderación simple (CE ponderada) curiosamente NO ayudó respecto de CE simple, y esto se debe a la inversión de desbalance que mencionamos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Presentador: Miguel Tasayco.
Implementamos Grad-CAM desde cero usando hooks de PyTorch. La capa objetivo es la última conv de layer4.
Lo que vemos arriba es la activación HACIA la clase 'cracked'.
En las primeras tres columnas (llantas realmente dañadas) el calor está donde están las grietas. Esto es exactamente lo que queremos ver: el modelo está mirando el patrón correcto.
En las últimas tres columnas (llantas sanas) la activación hacia 'cracked' es difusa o se va a los bordes. No encuentra un foco de daño porque no lo hay.
Esto es evidencia importante: el modelo no se está aprovechando de atajos espurios del fondo, sino de la textura real del daño.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Presentadora: Valeria Bulege.
Análisis cualitativo de los errores más confiados del mejor modelo (ResNet-50).
Hallazgo crítico: los 6 errores más confiados son TODOS falsos negativos. Es decir, llantas realmente dañadas que el modelo declara sanas con probabilidad MENOR a 0.03. Está MUY seguro y MUY equivocado.
Las hipótesis están sustentadas en las imágenes:
1) Varios casos son flancos con letras en altorrelieve que dominan la textura visual.
2) Otras tienen grietas muy finas que se pierden al reducir la imagen a 128 píxeles.
3) Algunos casos están sobreexpuestos y las fisuras pierden contraste.
4) Y siempre está presente el desplazamiento de distribución entre train y test.
Esto orienta directamente las mejoras futuras.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Presentador: Paul Bazan.
Diapositiva de lectura crítica. A la izquierda los HALLAZGOS principales del trabajo. A la derecha somos honestos sobre las LIMITACIONES.
Sobre cómputo: el entorno objetivo era CPU sin GPU, así que tuvimos que reducir la resolución de entrada de 224 a 128. Es esperable que con más cómputo, 224 píxeles y fine-tuning completo se gane más recall.
Sobre tamaño: con ~600 imágenes de entrenamiento la varianza estadística es alta. Sería deseable validación cruzada.
Punto clave: el desplazamiento de distribución entre train y test es la limitación más fundamental, no técnica sino de los datos. Esto NO se arregla con más entrenamiento; se arregla con datos más representativos de la distribución de despliegue.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Presentador: Elias Diaz.
Cerramos con conclusiones y trabajo futuro.
Conclusión principal: construimos un sistema reproducible y honestamente evaluado. ResNet-50 con fine-tuning parcial alcanzó AUC 0.946 y F1 0.803 en el test oficial, superando ampliamente a la CNN desde cero.
El reto principal pendiente es subir el RECALL de la clase de daño. En una aplicación de seguridad, dejar pasar una llanta agrietada es peor que dar una falsa alarma.
Trabajo futuro: mayor resolución, recalibración de umbral, aumentos específicos de textura, validación cruzada, y exploración de backbones más modernos.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grupo.
Agradecemos su atención y quedamos para resolver preguntas.
Tiempo total estimado: 11-12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B91C1C"/>
          </a:solidFill>
          <a:ln w="12700">
            <a:solidFill>
              <a:srgbClr val="B91C1C"/>
            </a:solidFill>
            <a:prstDash val="solid"/>
          </a:ln>
        </p:spPr>
      </p:sp>
      <p:sp>
        <p:nvSpPr>
          <p:cNvPr id="3" name="Text 1"/>
          <p:cNvSpPr/>
          <p:nvPr/>
        </p:nvSpPr>
        <p:spPr>
          <a:xfrm>
            <a:off x="914400" y="640080"/>
            <a:ext cx="10515600" cy="365760"/>
          </a:xfrm>
          <a:prstGeom prst="rect">
            <a:avLst/>
          </a:prstGeom>
          <a:noFill/>
          <a:ln/>
        </p:spPr>
        <p:txBody>
          <a:bodyPr wrap="square" rtlCol="0" anchor="ctr"/>
          <a:lstStyle/>
          <a:p>
            <a:pPr indent="0" marL="0">
              <a:buNone/>
            </a:pPr>
            <a:r>
              <a:rPr lang="en-US" sz="1200" b="1" spc="400" kern="0" dirty="0">
                <a:solidFill>
                  <a:srgbClr val="F59E0B"/>
                </a:solidFill>
                <a:latin typeface="Calibri" pitchFamily="34" charset="0"/>
                <a:ea typeface="Calibri" pitchFamily="34" charset="-122"/>
                <a:cs typeface="Calibri" pitchFamily="34" charset="-120"/>
              </a:rPr>
              <a:t>UNIVERSIDAD NACIONAL DE INGENIERÍA · ESCUELA DE POSGRADO</a:t>
            </a:r>
            <a:endParaRPr lang="en-US" sz="1200" dirty="0"/>
          </a:p>
        </p:txBody>
      </p:sp>
      <p:sp>
        <p:nvSpPr>
          <p:cNvPr id="4" name="Text 2"/>
          <p:cNvSpPr/>
          <p:nvPr/>
        </p:nvSpPr>
        <p:spPr>
          <a:xfrm>
            <a:off x="914400" y="960120"/>
            <a:ext cx="10515600" cy="320040"/>
          </a:xfrm>
          <a:prstGeom prst="rect">
            <a:avLst/>
          </a:prstGeom>
          <a:noFill/>
          <a:ln/>
        </p:spPr>
        <p:txBody>
          <a:bodyPr wrap="square" rtlCol="0" anchor="ctr"/>
          <a:lstStyle/>
          <a:p>
            <a:pPr indent="0" marL="0">
              <a:buNone/>
            </a:pPr>
            <a:r>
              <a:rPr lang="en-US" sz="1400" dirty="0">
                <a:solidFill>
                  <a:srgbClr val="CBD5E1"/>
                </a:solidFill>
                <a:latin typeface="Calibri" pitchFamily="34" charset="0"/>
                <a:ea typeface="Calibri" pitchFamily="34" charset="-122"/>
                <a:cs typeface="Calibri" pitchFamily="34" charset="-120"/>
              </a:rPr>
              <a:t>Maestría en Inteligencia Artificial · 2026-1</a:t>
            </a:r>
            <a:endParaRPr lang="en-US" sz="1400" dirty="0"/>
          </a:p>
        </p:txBody>
      </p:sp>
      <p:sp>
        <p:nvSpPr>
          <p:cNvPr id="5" name="Text 3"/>
          <p:cNvSpPr/>
          <p:nvPr/>
        </p:nvSpPr>
        <p:spPr>
          <a:xfrm>
            <a:off x="914400" y="1645920"/>
            <a:ext cx="10515600" cy="15544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Clasificación de llantas dañadas</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mediante reconocimiento de textura</a:t>
            </a:r>
            <a:endParaRPr lang="en-US" sz="4000" dirty="0"/>
          </a:p>
        </p:txBody>
      </p:sp>
      <p:sp>
        <p:nvSpPr>
          <p:cNvPr id="6" name="Text 4"/>
          <p:cNvSpPr/>
          <p:nvPr/>
        </p:nvSpPr>
        <p:spPr>
          <a:xfrm>
            <a:off x="914400" y="3154680"/>
            <a:ext cx="10515600" cy="548640"/>
          </a:xfrm>
          <a:prstGeom prst="rect">
            <a:avLst/>
          </a:prstGeom>
          <a:noFill/>
          <a:ln/>
        </p:spPr>
        <p:txBody>
          <a:bodyPr wrap="square" rtlCol="0" anchor="ctr"/>
          <a:lstStyle/>
          <a:p>
            <a:pPr indent="0" marL="0">
              <a:buNone/>
            </a:pPr>
            <a:r>
              <a:rPr lang="en-US" sz="1900" i="1" dirty="0">
                <a:solidFill>
                  <a:srgbClr val="FCA5A5"/>
                </a:solidFill>
                <a:latin typeface="Calibri" pitchFamily="34" charset="0"/>
                <a:ea typeface="Calibri" pitchFamily="34" charset="-122"/>
                <a:cs typeface="Calibri" pitchFamily="34" charset="-120"/>
              </a:rPr>
              <a:t>CNN diseñada desde cero  vs.  ResNet-50 con transferencia de aprendizaje</a:t>
            </a:r>
            <a:endParaRPr lang="en-US" sz="1900" dirty="0"/>
          </a:p>
        </p:txBody>
      </p:sp>
      <p:sp>
        <p:nvSpPr>
          <p:cNvPr id="7" name="Shape 5"/>
          <p:cNvSpPr/>
          <p:nvPr/>
        </p:nvSpPr>
        <p:spPr>
          <a:xfrm>
            <a:off x="914400" y="3931920"/>
            <a:ext cx="4572000" cy="0"/>
          </a:xfrm>
          <a:prstGeom prst="line">
            <a:avLst/>
          </a:prstGeom>
          <a:noFill/>
          <a:ln w="25400">
            <a:solidFill>
              <a:srgbClr val="B91C1C"/>
            </a:solidFill>
            <a:prstDash val="solid"/>
          </a:ln>
        </p:spPr>
      </p:sp>
      <p:sp>
        <p:nvSpPr>
          <p:cNvPr id="8" name="Text 6"/>
          <p:cNvSpPr/>
          <p:nvPr/>
        </p:nvSpPr>
        <p:spPr>
          <a:xfrm>
            <a:off x="914400" y="4114800"/>
            <a:ext cx="10058400" cy="320040"/>
          </a:xfrm>
          <a:prstGeom prst="rect">
            <a:avLst/>
          </a:prstGeom>
          <a:noFill/>
          <a:ln/>
        </p:spPr>
        <p:txBody>
          <a:bodyPr wrap="square" rtlCol="0" anchor="ctr"/>
          <a:lstStyle/>
          <a:p>
            <a:pPr indent="0" marL="0">
              <a:buNone/>
            </a:pPr>
            <a:r>
              <a:rPr lang="en-US" sz="1300" b="1" spc="200" kern="0" dirty="0">
                <a:solidFill>
                  <a:srgbClr val="F59E0B"/>
                </a:solidFill>
                <a:latin typeface="Calibri" pitchFamily="34" charset="0"/>
                <a:ea typeface="Calibri" pitchFamily="34" charset="-122"/>
                <a:cs typeface="Calibri" pitchFamily="34" charset="-120"/>
              </a:rPr>
              <a:t>Grupo Nº 1 — Integrantes</a:t>
            </a:r>
            <a:endParaRPr lang="en-US" sz="1300" dirty="0"/>
          </a:p>
        </p:txBody>
      </p:sp>
      <p:sp>
        <p:nvSpPr>
          <p:cNvPr id="9" name="Text 7"/>
          <p:cNvSpPr/>
          <p:nvPr/>
        </p:nvSpPr>
        <p:spPr>
          <a:xfrm>
            <a:off x="914400" y="4434840"/>
            <a:ext cx="5943600" cy="18288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Paul Bazan H.</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Valeria P. Bulege N.</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Oscar Dante Chaíña A.</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Elias O. Diaz C.</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Miguel A. Tasayco M.</a:t>
            </a:r>
            <a:endParaRPr lang="en-US" sz="1600" dirty="0"/>
          </a:p>
        </p:txBody>
      </p:sp>
      <p:sp>
        <p:nvSpPr>
          <p:cNvPr id="10" name="Shape 8"/>
          <p:cNvSpPr/>
          <p:nvPr/>
        </p:nvSpPr>
        <p:spPr>
          <a:xfrm>
            <a:off x="7315200" y="4434840"/>
            <a:ext cx="3931920" cy="1280160"/>
          </a:xfrm>
          <a:prstGeom prst="rect">
            <a:avLst/>
          </a:prstGeom>
          <a:solidFill>
            <a:srgbClr val="1E293B"/>
          </a:solidFill>
          <a:ln w="9525">
            <a:solidFill>
              <a:srgbClr val="334155"/>
            </a:solidFill>
            <a:prstDash val="solid"/>
          </a:ln>
        </p:spPr>
      </p:sp>
      <p:sp>
        <p:nvSpPr>
          <p:cNvPr id="11" name="Text 9"/>
          <p:cNvSpPr/>
          <p:nvPr/>
        </p:nvSpPr>
        <p:spPr>
          <a:xfrm>
            <a:off x="7498080" y="4526280"/>
            <a:ext cx="3657600" cy="320040"/>
          </a:xfrm>
          <a:prstGeom prst="rect">
            <a:avLst/>
          </a:prstGeom>
          <a:noFill/>
          <a:ln/>
        </p:spPr>
        <p:txBody>
          <a:bodyPr wrap="square"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Examen Parcial</a:t>
            </a:r>
            <a:endParaRPr lang="en-US" sz="1100" dirty="0"/>
          </a:p>
        </p:txBody>
      </p:sp>
      <p:sp>
        <p:nvSpPr>
          <p:cNvPr id="12" name="Text 10"/>
          <p:cNvSpPr/>
          <p:nvPr/>
        </p:nvSpPr>
        <p:spPr>
          <a:xfrm>
            <a:off x="7498080" y="4846320"/>
            <a:ext cx="3657600" cy="73152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Redes Neuronales y</a:t>
            </a:r>
            <a:endParaRPr lang="en-US" sz="1800" dirty="0"/>
          </a:p>
          <a:p>
            <a:pPr indent="0" marL="0">
              <a:buNone/>
            </a:pPr>
            <a:r>
              <a:rPr lang="en-US" sz="1800" b="1" dirty="0">
                <a:solidFill>
                  <a:srgbClr val="FFFFFF"/>
                </a:solidFill>
                <a:latin typeface="Georgia" pitchFamily="34" charset="0"/>
                <a:ea typeface="Georgia" pitchFamily="34" charset="-122"/>
                <a:cs typeface="Georgia" pitchFamily="34" charset="-120"/>
              </a:rPr>
              <a:t>Aprendizaje Profundo</a:t>
            </a:r>
            <a:endParaRPr lang="en-US" sz="1800" dirty="0"/>
          </a:p>
        </p:txBody>
      </p:sp>
      <p:sp>
        <p:nvSpPr>
          <p:cNvPr id="13" name="Text 11"/>
          <p:cNvSpPr/>
          <p:nvPr/>
        </p:nvSpPr>
        <p:spPr>
          <a:xfrm>
            <a:off x="914400" y="6309360"/>
            <a:ext cx="10058400" cy="27432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Lima,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1C1C"/>
          </a:solidFill>
          <a:ln w="12700">
            <a:solidFill>
              <a:srgbClr val="B91C1C"/>
            </a:solidFill>
            <a:prstDash val="solid"/>
          </a:ln>
        </p:spPr>
      </p:sp>
      <p:sp>
        <p:nvSpPr>
          <p:cNvPr id="3" name="Text 1"/>
          <p:cNvSpPr/>
          <p:nvPr/>
        </p:nvSpPr>
        <p:spPr>
          <a:xfrm>
            <a:off x="411480" y="274320"/>
            <a:ext cx="822960" cy="32004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2/14</a:t>
            </a:r>
            <a:endParaRPr lang="en-US" sz="1100" dirty="0"/>
          </a:p>
        </p:txBody>
      </p:sp>
      <p:sp>
        <p:nvSpPr>
          <p:cNvPr id="4" name="Text 2"/>
          <p:cNvSpPr/>
          <p:nvPr/>
        </p:nvSpPr>
        <p:spPr>
          <a:xfrm>
            <a:off x="411480" y="502920"/>
            <a:ext cx="1136873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Motivación</a:t>
            </a:r>
            <a:endParaRPr lang="en-US" sz="28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¿Por qué clasificar el daño de una llanta automáticamente?</a:t>
            </a:r>
            <a:endParaRPr lang="en-US" sz="1400" dirty="0"/>
          </a:p>
        </p:txBody>
      </p:sp>
      <p:sp>
        <p:nvSpPr>
          <p:cNvPr id="6" name="Text 4"/>
          <p:cNvSpPr/>
          <p:nvPr/>
        </p:nvSpPr>
        <p:spPr>
          <a:xfrm>
            <a:off x="411480" y="6473952"/>
            <a:ext cx="11368735"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Grupo Nº 1 - MIA UNI 2026-1 · Clasificación de llantas dañadas (CNN + transfer learning)</a:t>
            </a:r>
            <a:endParaRPr lang="en-US" sz="900" dirty="0"/>
          </a:p>
        </p:txBody>
      </p:sp>
      <p:sp>
        <p:nvSpPr>
          <p:cNvPr id="7" name="Shape 5"/>
          <p:cNvSpPr/>
          <p:nvPr/>
        </p:nvSpPr>
        <p:spPr>
          <a:xfrm>
            <a:off x="640080" y="1874520"/>
            <a:ext cx="3611880" cy="2834640"/>
          </a:xfrm>
          <a:prstGeom prst="rect">
            <a:avLst/>
          </a:prstGeom>
          <a:solidFill>
            <a:srgbClr val="F1F5F9"/>
          </a:solidFill>
          <a:ln w="9525">
            <a:solidFill>
              <a:srgbClr val="E2E8F0"/>
            </a:solidFill>
            <a:prstDash val="solid"/>
          </a:ln>
        </p:spPr>
      </p:sp>
      <p:sp>
        <p:nvSpPr>
          <p:cNvPr id="8" name="Shape 6"/>
          <p:cNvSpPr/>
          <p:nvPr/>
        </p:nvSpPr>
        <p:spPr>
          <a:xfrm>
            <a:off x="640080" y="1874520"/>
            <a:ext cx="3611880" cy="73152"/>
          </a:xfrm>
          <a:prstGeom prst="rect">
            <a:avLst/>
          </a:prstGeom>
          <a:solidFill>
            <a:srgbClr val="B91C1C"/>
          </a:solidFill>
          <a:ln w="12700">
            <a:solidFill>
              <a:srgbClr val="B91C1C"/>
            </a:solidFill>
            <a:prstDash val="solid"/>
          </a:ln>
        </p:spPr>
      </p:sp>
      <p:sp>
        <p:nvSpPr>
          <p:cNvPr id="9" name="Text 7"/>
          <p:cNvSpPr/>
          <p:nvPr/>
        </p:nvSpPr>
        <p:spPr>
          <a:xfrm>
            <a:off x="868680" y="2148840"/>
            <a:ext cx="548640" cy="548640"/>
          </a:xfrm>
          <a:prstGeom prst="rect">
            <a:avLst/>
          </a:prstGeom>
          <a:noFill/>
          <a:ln/>
        </p:spPr>
        <p:txBody>
          <a:bodyPr wrap="square" lIns="0" tIns="0" rIns="0" bIns="0" rtlCol="0" anchor="ctr"/>
          <a:lstStyle/>
          <a:p>
            <a:pPr indent="0" marL="0">
              <a:buNone/>
            </a:pPr>
            <a:r>
              <a:rPr lang="en-US" sz="3200" b="1" dirty="0">
                <a:solidFill>
                  <a:srgbClr val="B91C1C"/>
                </a:solidFill>
                <a:latin typeface="Georgia" pitchFamily="34" charset="0"/>
                <a:ea typeface="Georgia" pitchFamily="34" charset="-122"/>
                <a:cs typeface="Georgia" pitchFamily="34" charset="-120"/>
              </a:rPr>
              <a:t>1</a:t>
            </a:r>
            <a:endParaRPr lang="en-US" sz="3200" dirty="0"/>
          </a:p>
        </p:txBody>
      </p:sp>
      <p:sp>
        <p:nvSpPr>
          <p:cNvPr id="10" name="Text 8"/>
          <p:cNvSpPr/>
          <p:nvPr/>
        </p:nvSpPr>
        <p:spPr>
          <a:xfrm>
            <a:off x="1508760" y="2194560"/>
            <a:ext cx="2606040" cy="50292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Riesgo de seguridad</a:t>
            </a:r>
            <a:endParaRPr lang="en-US" sz="1800" dirty="0"/>
          </a:p>
        </p:txBody>
      </p:sp>
      <p:sp>
        <p:nvSpPr>
          <p:cNvPr id="11" name="Text 9"/>
          <p:cNvSpPr/>
          <p:nvPr/>
        </p:nvSpPr>
        <p:spPr>
          <a:xfrm>
            <a:off x="868680" y="2926080"/>
            <a:ext cx="3154680" cy="1691640"/>
          </a:xfrm>
          <a:prstGeom prst="rect">
            <a:avLst/>
          </a:prstGeom>
          <a:noFill/>
          <a:ln/>
        </p:spPr>
        <p:txBody>
          <a:bodyPr wrap="square" rtlCol="0" anchor="t"/>
          <a:lstStyle/>
          <a:p>
            <a:pPr indent="0" marL="0">
              <a:buNone/>
            </a:pPr>
            <a:r>
              <a:rPr lang="en-US" sz="1400" dirty="0">
                <a:solidFill>
                  <a:srgbClr val="1E293B"/>
                </a:solidFill>
                <a:latin typeface="Calibri" pitchFamily="34" charset="0"/>
                <a:ea typeface="Calibri" pitchFamily="34" charset="-122"/>
                <a:cs typeface="Calibri" pitchFamily="34" charset="-120"/>
              </a:rPr>
              <a:t>Las grietas, oxidación y pérdida de relieve reducen la adherencia y aumentan la probabilidad de reventones.</a:t>
            </a:r>
            <a:endParaRPr lang="en-US" sz="1400" dirty="0"/>
          </a:p>
        </p:txBody>
      </p:sp>
      <p:sp>
        <p:nvSpPr>
          <p:cNvPr id="12" name="Shape 10"/>
          <p:cNvSpPr/>
          <p:nvPr/>
        </p:nvSpPr>
        <p:spPr>
          <a:xfrm>
            <a:off x="4434840" y="1874520"/>
            <a:ext cx="3611880" cy="2834640"/>
          </a:xfrm>
          <a:prstGeom prst="rect">
            <a:avLst/>
          </a:prstGeom>
          <a:solidFill>
            <a:srgbClr val="F1F5F9"/>
          </a:solidFill>
          <a:ln w="9525">
            <a:solidFill>
              <a:srgbClr val="E2E8F0"/>
            </a:solidFill>
            <a:prstDash val="solid"/>
          </a:ln>
        </p:spPr>
      </p:sp>
      <p:sp>
        <p:nvSpPr>
          <p:cNvPr id="13" name="Shape 11"/>
          <p:cNvSpPr/>
          <p:nvPr/>
        </p:nvSpPr>
        <p:spPr>
          <a:xfrm>
            <a:off x="4434840" y="1874520"/>
            <a:ext cx="3611880" cy="73152"/>
          </a:xfrm>
          <a:prstGeom prst="rect">
            <a:avLst/>
          </a:prstGeom>
          <a:solidFill>
            <a:srgbClr val="B91C1C"/>
          </a:solidFill>
          <a:ln w="12700">
            <a:solidFill>
              <a:srgbClr val="B91C1C"/>
            </a:solidFill>
            <a:prstDash val="solid"/>
          </a:ln>
        </p:spPr>
      </p:sp>
      <p:sp>
        <p:nvSpPr>
          <p:cNvPr id="14" name="Text 12"/>
          <p:cNvSpPr/>
          <p:nvPr/>
        </p:nvSpPr>
        <p:spPr>
          <a:xfrm>
            <a:off x="4663440" y="2148840"/>
            <a:ext cx="548640" cy="548640"/>
          </a:xfrm>
          <a:prstGeom prst="rect">
            <a:avLst/>
          </a:prstGeom>
          <a:noFill/>
          <a:ln/>
        </p:spPr>
        <p:txBody>
          <a:bodyPr wrap="square" lIns="0" tIns="0" rIns="0" bIns="0" rtlCol="0" anchor="ctr"/>
          <a:lstStyle/>
          <a:p>
            <a:pPr indent="0" marL="0">
              <a:buNone/>
            </a:pPr>
            <a:r>
              <a:rPr lang="en-US" sz="3200" b="1" dirty="0">
                <a:solidFill>
                  <a:srgbClr val="B91C1C"/>
                </a:solidFill>
                <a:latin typeface="Georgia" pitchFamily="34" charset="0"/>
                <a:ea typeface="Georgia" pitchFamily="34" charset="-122"/>
                <a:cs typeface="Georgia" pitchFamily="34" charset="-120"/>
              </a:rPr>
              <a:t>2</a:t>
            </a:r>
            <a:endParaRPr lang="en-US" sz="3200" dirty="0"/>
          </a:p>
        </p:txBody>
      </p:sp>
      <p:sp>
        <p:nvSpPr>
          <p:cNvPr id="15" name="Text 13"/>
          <p:cNvSpPr/>
          <p:nvPr/>
        </p:nvSpPr>
        <p:spPr>
          <a:xfrm>
            <a:off x="5303520" y="2194560"/>
            <a:ext cx="2606040" cy="50292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Inspección manual ineficiente</a:t>
            </a:r>
            <a:endParaRPr lang="en-US" sz="1800" dirty="0"/>
          </a:p>
        </p:txBody>
      </p:sp>
      <p:sp>
        <p:nvSpPr>
          <p:cNvPr id="16" name="Text 14"/>
          <p:cNvSpPr/>
          <p:nvPr/>
        </p:nvSpPr>
        <p:spPr>
          <a:xfrm>
            <a:off x="4663440" y="2926080"/>
            <a:ext cx="3154680" cy="1691640"/>
          </a:xfrm>
          <a:prstGeom prst="rect">
            <a:avLst/>
          </a:prstGeom>
          <a:noFill/>
          <a:ln/>
        </p:spPr>
        <p:txBody>
          <a:bodyPr wrap="square" rtlCol="0" anchor="t"/>
          <a:lstStyle/>
          <a:p>
            <a:pPr indent="0" marL="0">
              <a:buNone/>
            </a:pPr>
            <a:r>
              <a:rPr lang="en-US" sz="1400" dirty="0">
                <a:solidFill>
                  <a:srgbClr val="1E293B"/>
                </a:solidFill>
                <a:latin typeface="Calibri" pitchFamily="34" charset="0"/>
                <a:ea typeface="Calibri" pitchFamily="34" charset="-122"/>
                <a:cs typeface="Calibri" pitchFamily="34" charset="-120"/>
              </a:rPr>
              <a:t>Lenta, subjetiva, depende de la experiencia del operario; difícil de auditar y escalar en flotas.</a:t>
            </a:r>
            <a:endParaRPr lang="en-US" sz="1400" dirty="0"/>
          </a:p>
        </p:txBody>
      </p:sp>
      <p:sp>
        <p:nvSpPr>
          <p:cNvPr id="17" name="Shape 15"/>
          <p:cNvSpPr/>
          <p:nvPr/>
        </p:nvSpPr>
        <p:spPr>
          <a:xfrm>
            <a:off x="8229600" y="1874520"/>
            <a:ext cx="3611880" cy="2834640"/>
          </a:xfrm>
          <a:prstGeom prst="rect">
            <a:avLst/>
          </a:prstGeom>
          <a:solidFill>
            <a:srgbClr val="F1F5F9"/>
          </a:solidFill>
          <a:ln w="9525">
            <a:solidFill>
              <a:srgbClr val="E2E8F0"/>
            </a:solidFill>
            <a:prstDash val="solid"/>
          </a:ln>
        </p:spPr>
      </p:sp>
      <p:sp>
        <p:nvSpPr>
          <p:cNvPr id="18" name="Shape 16"/>
          <p:cNvSpPr/>
          <p:nvPr/>
        </p:nvSpPr>
        <p:spPr>
          <a:xfrm>
            <a:off x="8229600" y="1874520"/>
            <a:ext cx="3611880" cy="73152"/>
          </a:xfrm>
          <a:prstGeom prst="rect">
            <a:avLst/>
          </a:prstGeom>
          <a:solidFill>
            <a:srgbClr val="B91C1C"/>
          </a:solidFill>
          <a:ln w="12700">
            <a:solidFill>
              <a:srgbClr val="B91C1C"/>
            </a:solidFill>
            <a:prstDash val="solid"/>
          </a:ln>
        </p:spPr>
      </p:sp>
      <p:sp>
        <p:nvSpPr>
          <p:cNvPr id="19" name="Text 17"/>
          <p:cNvSpPr/>
          <p:nvPr/>
        </p:nvSpPr>
        <p:spPr>
          <a:xfrm>
            <a:off x="8458200" y="2148840"/>
            <a:ext cx="548640" cy="548640"/>
          </a:xfrm>
          <a:prstGeom prst="rect">
            <a:avLst/>
          </a:prstGeom>
          <a:noFill/>
          <a:ln/>
        </p:spPr>
        <p:txBody>
          <a:bodyPr wrap="square" lIns="0" tIns="0" rIns="0" bIns="0" rtlCol="0" anchor="ctr"/>
          <a:lstStyle/>
          <a:p>
            <a:pPr indent="0" marL="0">
              <a:buNone/>
            </a:pPr>
            <a:r>
              <a:rPr lang="en-US" sz="3200" b="1" dirty="0">
                <a:solidFill>
                  <a:srgbClr val="B91C1C"/>
                </a:solidFill>
                <a:latin typeface="Georgia" pitchFamily="34" charset="0"/>
                <a:ea typeface="Georgia" pitchFamily="34" charset="-122"/>
                <a:cs typeface="Georgia" pitchFamily="34" charset="-120"/>
              </a:rPr>
              <a:t>3</a:t>
            </a:r>
            <a:endParaRPr lang="en-US" sz="3200" dirty="0"/>
          </a:p>
        </p:txBody>
      </p:sp>
      <p:sp>
        <p:nvSpPr>
          <p:cNvPr id="20" name="Text 18"/>
          <p:cNvSpPr/>
          <p:nvPr/>
        </p:nvSpPr>
        <p:spPr>
          <a:xfrm>
            <a:off x="9098280" y="2194560"/>
            <a:ext cx="2606040" cy="50292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Señal apta para CNN</a:t>
            </a:r>
            <a:endParaRPr lang="en-US" sz="1800" dirty="0"/>
          </a:p>
        </p:txBody>
      </p:sp>
      <p:sp>
        <p:nvSpPr>
          <p:cNvPr id="21" name="Text 19"/>
          <p:cNvSpPr/>
          <p:nvPr/>
        </p:nvSpPr>
        <p:spPr>
          <a:xfrm>
            <a:off x="8458200" y="2926080"/>
            <a:ext cx="3154680" cy="1691640"/>
          </a:xfrm>
          <a:prstGeom prst="rect">
            <a:avLst/>
          </a:prstGeom>
          <a:noFill/>
          <a:ln/>
        </p:spPr>
        <p:txBody>
          <a:bodyPr wrap="square" rtlCol="0" anchor="t"/>
          <a:lstStyle/>
          <a:p>
            <a:pPr indent="0" marL="0">
              <a:buNone/>
            </a:pPr>
            <a:r>
              <a:rPr lang="en-US" sz="1400" dirty="0">
                <a:solidFill>
                  <a:srgbClr val="1E293B"/>
                </a:solidFill>
                <a:latin typeface="Calibri" pitchFamily="34" charset="0"/>
                <a:ea typeface="Calibri" pitchFamily="34" charset="-122"/>
                <a:cs typeface="Calibri" pitchFamily="34" charset="-120"/>
              </a:rPr>
              <a:t>El daño es esencialmente textural y de escala fina: un problema natural para visión por computadora.</a:t>
            </a:r>
            <a:endParaRPr lang="en-US" sz="1400" dirty="0"/>
          </a:p>
        </p:txBody>
      </p:sp>
      <p:sp>
        <p:nvSpPr>
          <p:cNvPr id="22" name="Shape 20"/>
          <p:cNvSpPr/>
          <p:nvPr/>
        </p:nvSpPr>
        <p:spPr>
          <a:xfrm>
            <a:off x="640080" y="4983480"/>
            <a:ext cx="10835640" cy="1188720"/>
          </a:xfrm>
          <a:prstGeom prst="rect">
            <a:avLst/>
          </a:prstGeom>
          <a:solidFill>
            <a:srgbClr val="0F172A"/>
          </a:solidFill>
          <a:ln w="9525">
            <a:solidFill>
              <a:srgbClr val="0F172A"/>
            </a:solidFill>
            <a:prstDash val="solid"/>
          </a:ln>
        </p:spPr>
      </p:sp>
      <p:sp>
        <p:nvSpPr>
          <p:cNvPr id="23" name="Text 21"/>
          <p:cNvSpPr/>
          <p:nvPr/>
        </p:nvSpPr>
        <p:spPr>
          <a:xfrm>
            <a:off x="914400" y="5074920"/>
            <a:ext cx="1828800" cy="27432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OBJETIVO</a:t>
            </a:r>
            <a:endParaRPr lang="en-US" sz="1100" dirty="0"/>
          </a:p>
        </p:txBody>
      </p:sp>
      <p:sp>
        <p:nvSpPr>
          <p:cNvPr id="24" name="Text 22"/>
          <p:cNvSpPr/>
          <p:nvPr/>
        </p:nvSpPr>
        <p:spPr>
          <a:xfrm>
            <a:off x="914400" y="5349240"/>
            <a:ext cx="10241280" cy="731520"/>
          </a:xfrm>
          <a:prstGeom prst="rect">
            <a:avLst/>
          </a:prstGeom>
          <a:noFill/>
          <a:ln/>
        </p:spPr>
        <p:txBody>
          <a:bodyPr wrap="square" rtlCol="0" anchor="t"/>
          <a:lstStyle/>
          <a:p>
            <a:pPr indent="0" marL="0">
              <a:buNone/>
            </a:pPr>
            <a:r>
              <a:rPr lang="en-US" sz="1500" dirty="0">
                <a:solidFill>
                  <a:srgbClr val="FFFFFF"/>
                </a:solidFill>
                <a:latin typeface="Calibri" pitchFamily="34" charset="0"/>
                <a:ea typeface="Calibri" pitchFamily="34" charset="-122"/>
                <a:cs typeface="Calibri" pitchFamily="34" charset="-120"/>
              </a:rPr>
              <a:t>Construir un clasificador binario normal vs. cracked, comparar dos arquitecturas, analizar el desbalance de clases, interpretar las decisiones con Grad-CAM y caracterizar los fallos.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1C1C"/>
          </a:solidFill>
          <a:ln w="12700">
            <a:solidFill>
              <a:srgbClr val="B91C1C"/>
            </a:solidFill>
            <a:prstDash val="solid"/>
          </a:ln>
        </p:spPr>
      </p:sp>
      <p:sp>
        <p:nvSpPr>
          <p:cNvPr id="3" name="Text 1"/>
          <p:cNvSpPr/>
          <p:nvPr/>
        </p:nvSpPr>
        <p:spPr>
          <a:xfrm>
            <a:off x="411480" y="274320"/>
            <a:ext cx="822960" cy="32004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3/14</a:t>
            </a:r>
            <a:endParaRPr lang="en-US" sz="1100" dirty="0"/>
          </a:p>
        </p:txBody>
      </p:sp>
      <p:sp>
        <p:nvSpPr>
          <p:cNvPr id="4" name="Text 2"/>
          <p:cNvSpPr/>
          <p:nvPr/>
        </p:nvSpPr>
        <p:spPr>
          <a:xfrm>
            <a:off x="411480" y="502920"/>
            <a:ext cx="1136873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Conjunto de datos</a:t>
            </a:r>
            <a:endParaRPr lang="en-US" sz="28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Tire Texture Image Recognition (1028 imágenes, binario)</a:t>
            </a:r>
            <a:endParaRPr lang="en-US" sz="1400" dirty="0"/>
          </a:p>
        </p:txBody>
      </p:sp>
      <p:sp>
        <p:nvSpPr>
          <p:cNvPr id="6" name="Text 4"/>
          <p:cNvSpPr/>
          <p:nvPr/>
        </p:nvSpPr>
        <p:spPr>
          <a:xfrm>
            <a:off x="411480" y="6473952"/>
            <a:ext cx="11368735"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Grupo Nº 1 - MIA UNI 2026-1 · Clasificación de llantas dañadas (CNN + transfer learning)</a:t>
            </a:r>
            <a:endParaRPr lang="en-US" sz="900" dirty="0"/>
          </a:p>
        </p:txBody>
      </p:sp>
      <p:sp>
        <p:nvSpPr>
          <p:cNvPr id="7" name="Shape 5"/>
          <p:cNvSpPr/>
          <p:nvPr/>
        </p:nvSpPr>
        <p:spPr>
          <a:xfrm>
            <a:off x="640080" y="1874520"/>
            <a:ext cx="5120640" cy="4023360"/>
          </a:xfrm>
          <a:prstGeom prst="rect">
            <a:avLst/>
          </a:prstGeom>
          <a:solidFill>
            <a:srgbClr val="F1F5F9"/>
          </a:solidFill>
          <a:ln w="9525">
            <a:solidFill>
              <a:srgbClr val="E2E8F0"/>
            </a:solidFill>
            <a:prstDash val="solid"/>
          </a:ln>
        </p:spPr>
      </p:sp>
      <p:sp>
        <p:nvSpPr>
          <p:cNvPr id="8" name="Text 6"/>
          <p:cNvSpPr/>
          <p:nvPr/>
        </p:nvSpPr>
        <p:spPr>
          <a:xfrm>
            <a:off x="868680" y="2011680"/>
            <a:ext cx="4572000" cy="320040"/>
          </a:xfrm>
          <a:prstGeom prst="rect">
            <a:avLst/>
          </a:prstGeom>
          <a:noFill/>
          <a:ln/>
        </p:spPr>
        <p:txBody>
          <a:bodyPr wrap="square" rtlCol="0" anchor="ctr"/>
          <a:lstStyle/>
          <a:p>
            <a:pPr indent="0" marL="0">
              <a:buNone/>
            </a:pPr>
            <a:r>
              <a:rPr lang="en-US" sz="1100" b="1" spc="300" kern="0" dirty="0">
                <a:solidFill>
                  <a:srgbClr val="B91C1C"/>
                </a:solidFill>
                <a:latin typeface="Calibri" pitchFamily="34" charset="0"/>
                <a:ea typeface="Calibri" pitchFamily="34" charset="-122"/>
                <a:cs typeface="Calibri" pitchFamily="34" charset="-120"/>
              </a:rPr>
              <a:t>Fuente</a:t>
            </a:r>
            <a:endParaRPr lang="en-US" sz="1100" dirty="0"/>
          </a:p>
        </p:txBody>
      </p:sp>
      <p:sp>
        <p:nvSpPr>
          <p:cNvPr id="9" name="Text 7"/>
          <p:cNvSpPr/>
          <p:nvPr/>
        </p:nvSpPr>
        <p:spPr>
          <a:xfrm>
            <a:off x="868680" y="2377440"/>
            <a:ext cx="4754880" cy="3291840"/>
          </a:xfrm>
          <a:prstGeom prst="rect">
            <a:avLst/>
          </a:prstGeom>
          <a:noFill/>
          <a:ln/>
        </p:spPr>
        <p:txBody>
          <a:bodyPr wrap="square" rtlCol="0" anchor="t"/>
          <a:lstStyle/>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Origen abierto: Harvard Dataverse (DOI 10.7910/DVN/Z3ZYLI).</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Idéntico al publicado en Kaggle (descarga directa de Kaggle requiere autenticación).</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Clases: cracked (dañada) vs normal (sana).</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Split oficial: training_data y testing_data.</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Imagen típica: foto cercana del flanco o banda de rodadura.</a:t>
            </a:r>
            <a:endParaRPr lang="en-US" sz="1400" dirty="0"/>
          </a:p>
        </p:txBody>
      </p:sp>
      <p:sp>
        <p:nvSpPr>
          <p:cNvPr id="10" name="Shape 8"/>
          <p:cNvSpPr/>
          <p:nvPr/>
        </p:nvSpPr>
        <p:spPr>
          <a:xfrm>
            <a:off x="5989320" y="1874520"/>
            <a:ext cx="5486400" cy="2194560"/>
          </a:xfrm>
          <a:prstGeom prst="rect">
            <a:avLst/>
          </a:prstGeom>
          <a:solidFill>
            <a:srgbClr val="F1F5F9"/>
          </a:solidFill>
          <a:ln w="9525">
            <a:solidFill>
              <a:srgbClr val="E2E8F0"/>
            </a:solidFill>
            <a:prstDash val="solid"/>
          </a:ln>
        </p:spPr>
      </p:sp>
      <p:sp>
        <p:nvSpPr>
          <p:cNvPr id="11" name="Text 9"/>
          <p:cNvSpPr/>
          <p:nvPr/>
        </p:nvSpPr>
        <p:spPr>
          <a:xfrm>
            <a:off x="6217920" y="2011680"/>
            <a:ext cx="5120640" cy="320040"/>
          </a:xfrm>
          <a:prstGeom prst="rect">
            <a:avLst/>
          </a:prstGeom>
          <a:noFill/>
          <a:ln/>
        </p:spPr>
        <p:txBody>
          <a:bodyPr wrap="square" rtlCol="0" anchor="ctr"/>
          <a:lstStyle/>
          <a:p>
            <a:pPr indent="0" marL="0">
              <a:buNone/>
            </a:pPr>
            <a:r>
              <a:rPr lang="en-US" sz="1100" b="1" spc="300" kern="0" dirty="0">
                <a:solidFill>
                  <a:srgbClr val="B91C1C"/>
                </a:solidFill>
                <a:latin typeface="Calibri" pitchFamily="34" charset="0"/>
                <a:ea typeface="Calibri" pitchFamily="34" charset="-122"/>
                <a:cs typeface="Calibri" pitchFamily="34" charset="-120"/>
              </a:rPr>
              <a:t>Distribución por partición</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217920" y="2377440"/>
          <a:ext cx="5029200" cy="914400"/>
        </p:xfrm>
        <a:graphic>
          <a:graphicData uri="http://schemas.openxmlformats.org/drawingml/2006/table">
            <a:tbl>
              <a:tblPr/>
              <a:tblGrid>
                <a:gridCol w="1554480"/>
                <a:gridCol w="1097280"/>
                <a:gridCol w="1097280"/>
                <a:gridCol w="12801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Partición</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cracked</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38404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training_data</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327</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376</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703</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testing_data</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210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115</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325</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3" name="Shape 10"/>
          <p:cNvSpPr/>
          <p:nvPr/>
        </p:nvSpPr>
        <p:spPr>
          <a:xfrm>
            <a:off x="5989320" y="4160520"/>
            <a:ext cx="5486400" cy="1737360"/>
          </a:xfrm>
          <a:prstGeom prst="rect">
            <a:avLst/>
          </a:prstGeom>
          <a:solidFill>
            <a:srgbClr val="FEE2E2"/>
          </a:solidFill>
          <a:ln w="9525">
            <a:solidFill>
              <a:srgbClr val="B91C1C"/>
            </a:solidFill>
            <a:prstDash val="solid"/>
          </a:ln>
        </p:spPr>
      </p:sp>
      <p:sp>
        <p:nvSpPr>
          <p:cNvPr id="14" name="Text 11"/>
          <p:cNvSpPr/>
          <p:nvPr/>
        </p:nvSpPr>
        <p:spPr>
          <a:xfrm>
            <a:off x="6217920" y="4251960"/>
            <a:ext cx="5120640" cy="320040"/>
          </a:xfrm>
          <a:prstGeom prst="rect">
            <a:avLst/>
          </a:prstGeom>
          <a:noFill/>
          <a:ln/>
        </p:spPr>
        <p:txBody>
          <a:bodyPr wrap="square" rtlCol="0" anchor="ctr"/>
          <a:lstStyle/>
          <a:p>
            <a:pPr indent="0" marL="0">
              <a:buNone/>
            </a:pPr>
            <a:r>
              <a:rPr lang="en-US" sz="1100" b="1" spc="300" kern="0" dirty="0">
                <a:solidFill>
                  <a:srgbClr val="B91C1C"/>
                </a:solidFill>
                <a:latin typeface="Calibri" pitchFamily="34" charset="0"/>
                <a:ea typeface="Calibri" pitchFamily="34" charset="-122"/>
                <a:cs typeface="Calibri" pitchFamily="34" charset="-120"/>
              </a:rPr>
              <a:t>⚠  HALLAZGO CLAVE</a:t>
            </a:r>
            <a:endParaRPr lang="en-US" sz="1100" dirty="0"/>
          </a:p>
        </p:txBody>
      </p:sp>
      <p:sp>
        <p:nvSpPr>
          <p:cNvPr id="15" name="Text 12"/>
          <p:cNvSpPr/>
          <p:nvPr/>
        </p:nvSpPr>
        <p:spPr>
          <a:xfrm>
            <a:off x="6217920" y="4553712"/>
            <a:ext cx="5120640" cy="27432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El desbalance se INVIERTE entre particiones:</a:t>
            </a:r>
            <a:endParaRPr lang="en-US" sz="1300" dirty="0"/>
          </a:p>
        </p:txBody>
      </p:sp>
      <p:sp>
        <p:nvSpPr>
          <p:cNvPr id="16" name="Text 13"/>
          <p:cNvSpPr/>
          <p:nvPr/>
        </p:nvSpPr>
        <p:spPr>
          <a:xfrm>
            <a:off x="6217920" y="4846320"/>
            <a:ext cx="5120640" cy="914400"/>
          </a:xfrm>
          <a:prstGeom prst="rect">
            <a:avLst/>
          </a:prstGeom>
          <a:noFill/>
          <a:ln/>
        </p:spPr>
        <p:txBody>
          <a:bodyPr wrap="square" rtlCol="0" anchor="t"/>
          <a:lstStyle/>
          <a:p>
            <a:pPr indent="0" marL="0">
              <a:buNone/>
            </a:pPr>
            <a:r>
              <a:rPr lang="en-US" sz="1300" dirty="0">
                <a:solidFill>
                  <a:srgbClr val="0F172A"/>
                </a:solidFill>
                <a:latin typeface="Calibri" pitchFamily="34" charset="0"/>
                <a:ea typeface="Calibri" pitchFamily="34" charset="-122"/>
                <a:cs typeface="Calibri" pitchFamily="34" charset="-120"/>
              </a:rPr>
              <a:t>• Train: mayoría normal (1.15 : 1)</a:t>
            </a:r>
            <a:endParaRPr lang="en-US" sz="1300" dirty="0"/>
          </a:p>
          <a:p>
            <a:pPr indent="0" marL="0">
              <a:buNone/>
            </a:pPr>
            <a:r>
              <a:rPr lang="en-US" sz="1300" dirty="0">
                <a:solidFill>
                  <a:srgbClr val="0F172A"/>
                </a:solidFill>
                <a:latin typeface="Calibri" pitchFamily="34" charset="0"/>
                <a:ea typeface="Calibri" pitchFamily="34" charset="-122"/>
                <a:cs typeface="Calibri" pitchFamily="34" charset="-120"/>
              </a:rPr>
              <a:t>• Test:  mayoría cracked (1.83 : 1)</a:t>
            </a:r>
            <a:endParaRPr lang="en-US" sz="1300" dirty="0"/>
          </a:p>
        </p:txBody>
      </p:sp>
      <p:sp>
        <p:nvSpPr>
          <p:cNvPr id="17" name="Text 14"/>
          <p:cNvSpPr/>
          <p:nvPr/>
        </p:nvSpPr>
        <p:spPr>
          <a:xfrm>
            <a:off x="640080" y="5989320"/>
            <a:ext cx="10881360" cy="320040"/>
          </a:xfrm>
          <a:prstGeom prst="rect">
            <a:avLst/>
          </a:prstGeom>
          <a:noFill/>
          <a:ln/>
        </p:spPr>
        <p:txBody>
          <a:bodyPr wrap="square" rtlCol="0" anchor="ctr"/>
          <a:lstStyle/>
          <a:p>
            <a:pPr algn="ctr" indent="0" marL="0">
              <a:buNone/>
            </a:pPr>
            <a:r>
              <a:rPr lang="en-US" sz="1300" i="1" dirty="0">
                <a:solidFill>
                  <a:srgbClr val="64748B"/>
                </a:solidFill>
                <a:latin typeface="Calibri" pitchFamily="34" charset="0"/>
                <a:ea typeface="Calibri" pitchFamily="34" charset="-122"/>
                <a:cs typeface="Calibri" pitchFamily="34" charset="-120"/>
              </a:rPr>
              <a:t>Esta inversión explica buena parte de los resultados que veremos.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1C1C"/>
          </a:solidFill>
          <a:ln w="12700">
            <a:solidFill>
              <a:srgbClr val="B91C1C"/>
            </a:solidFill>
            <a:prstDash val="solid"/>
          </a:ln>
        </p:spPr>
      </p:sp>
      <p:sp>
        <p:nvSpPr>
          <p:cNvPr id="3" name="Text 1"/>
          <p:cNvSpPr/>
          <p:nvPr/>
        </p:nvSpPr>
        <p:spPr>
          <a:xfrm>
            <a:off x="411480" y="274320"/>
            <a:ext cx="822960" cy="32004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4/14</a:t>
            </a:r>
            <a:endParaRPr lang="en-US" sz="1100" dirty="0"/>
          </a:p>
        </p:txBody>
      </p:sp>
      <p:sp>
        <p:nvSpPr>
          <p:cNvPr id="4" name="Text 2"/>
          <p:cNvSpPr/>
          <p:nvPr/>
        </p:nvSpPr>
        <p:spPr>
          <a:xfrm>
            <a:off x="411480" y="502920"/>
            <a:ext cx="1136873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Metodología</a:t>
            </a:r>
            <a:endParaRPr lang="en-US" sz="28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Pipeline de extremo a extremo</a:t>
            </a:r>
            <a:endParaRPr lang="en-US" sz="1400" dirty="0"/>
          </a:p>
        </p:txBody>
      </p:sp>
      <p:sp>
        <p:nvSpPr>
          <p:cNvPr id="6" name="Text 4"/>
          <p:cNvSpPr/>
          <p:nvPr/>
        </p:nvSpPr>
        <p:spPr>
          <a:xfrm>
            <a:off x="411480" y="6473952"/>
            <a:ext cx="11368735"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Grupo Nº 1 - MIA UNI 2026-1 · Clasificación de llantas dañadas (CNN + transfer learning)</a:t>
            </a:r>
            <a:endParaRPr lang="en-US" sz="900" dirty="0"/>
          </a:p>
        </p:txBody>
      </p:sp>
      <p:sp>
        <p:nvSpPr>
          <p:cNvPr id="7" name="Shape 5"/>
          <p:cNvSpPr/>
          <p:nvPr/>
        </p:nvSpPr>
        <p:spPr>
          <a:xfrm>
            <a:off x="640080" y="2011680"/>
            <a:ext cx="2103120" cy="2926080"/>
          </a:xfrm>
          <a:prstGeom prst="rect">
            <a:avLst/>
          </a:prstGeom>
          <a:solidFill>
            <a:srgbClr val="F1F5F9"/>
          </a:solidFill>
          <a:ln w="9525">
            <a:solidFill>
              <a:srgbClr val="E2E8F0"/>
            </a:solidFill>
            <a:prstDash val="solid"/>
          </a:ln>
        </p:spPr>
      </p:sp>
      <p:sp>
        <p:nvSpPr>
          <p:cNvPr id="8" name="Shape 6"/>
          <p:cNvSpPr/>
          <p:nvPr/>
        </p:nvSpPr>
        <p:spPr>
          <a:xfrm>
            <a:off x="1417320" y="1691640"/>
            <a:ext cx="548640" cy="548640"/>
          </a:xfrm>
          <a:prstGeom prst="ellipse">
            <a:avLst/>
          </a:prstGeom>
          <a:solidFill>
            <a:srgbClr val="B91C1C"/>
          </a:solidFill>
          <a:ln w="12700">
            <a:solidFill>
              <a:srgbClr val="B91C1C"/>
            </a:solidFill>
            <a:prstDash val="solid"/>
          </a:ln>
        </p:spPr>
      </p:sp>
      <p:sp>
        <p:nvSpPr>
          <p:cNvPr id="9" name="Text 7"/>
          <p:cNvSpPr/>
          <p:nvPr/>
        </p:nvSpPr>
        <p:spPr>
          <a:xfrm>
            <a:off x="1417320" y="1719072"/>
            <a:ext cx="54864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0" name="Text 8"/>
          <p:cNvSpPr/>
          <p:nvPr/>
        </p:nvSpPr>
        <p:spPr>
          <a:xfrm>
            <a:off x="777240" y="2423160"/>
            <a:ext cx="1828800" cy="548640"/>
          </a:xfrm>
          <a:prstGeom prst="rect">
            <a:avLst/>
          </a:prstGeom>
          <a:noFill/>
          <a:ln/>
        </p:spPr>
        <p:txBody>
          <a:bodyPr wrap="square" lIns="0" tIns="0" rIns="0" bIns="0" rtlCol="0" anchor="ctr"/>
          <a:lstStyle/>
          <a:p>
            <a:pPr algn="ctr" indent="0" marL="0">
              <a:buNone/>
            </a:pPr>
            <a:r>
              <a:rPr lang="en-US" sz="1600" b="1" dirty="0">
                <a:solidFill>
                  <a:srgbClr val="0F172A"/>
                </a:solidFill>
                <a:latin typeface="Georgia" pitchFamily="34" charset="0"/>
                <a:ea typeface="Georgia" pitchFamily="34" charset="-122"/>
                <a:cs typeface="Georgia" pitchFamily="34" charset="-120"/>
              </a:rPr>
              <a:t>Carga y caché</a:t>
            </a:r>
            <a:endParaRPr lang="en-US" sz="1600" dirty="0"/>
          </a:p>
        </p:txBody>
      </p:sp>
      <p:sp>
        <p:nvSpPr>
          <p:cNvPr id="11" name="Text 9"/>
          <p:cNvSpPr/>
          <p:nvPr/>
        </p:nvSpPr>
        <p:spPr>
          <a:xfrm>
            <a:off x="822960" y="3017520"/>
            <a:ext cx="1737360" cy="1783080"/>
          </a:xfrm>
          <a:prstGeom prst="rect">
            <a:avLst/>
          </a:prstGeom>
          <a:noFill/>
          <a:ln/>
        </p:spPr>
        <p:txBody>
          <a:bodyPr wrap="square"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Decodifica JPG una vez, cachea en RAM y disco como tensores uint8.</a:t>
            </a:r>
            <a:endParaRPr lang="en-US" sz="1200" dirty="0"/>
          </a:p>
        </p:txBody>
      </p:sp>
      <p:sp>
        <p:nvSpPr>
          <p:cNvPr id="12" name="Shape 10"/>
          <p:cNvSpPr/>
          <p:nvPr/>
        </p:nvSpPr>
        <p:spPr>
          <a:xfrm rot="5400000">
            <a:off x="2761488" y="3383280"/>
            <a:ext cx="118872" cy="182880"/>
          </a:xfrm>
          <a:prstGeom prst="rtTriangle">
            <a:avLst/>
          </a:prstGeom>
          <a:solidFill>
            <a:srgbClr val="B91C1C"/>
          </a:solidFill>
          <a:ln w="12700">
            <a:solidFill>
              <a:srgbClr val="B91C1C"/>
            </a:solidFill>
            <a:prstDash val="solid"/>
          </a:ln>
        </p:spPr>
      </p:sp>
      <p:sp>
        <p:nvSpPr>
          <p:cNvPr id="13" name="Shape 11"/>
          <p:cNvSpPr/>
          <p:nvPr/>
        </p:nvSpPr>
        <p:spPr>
          <a:xfrm>
            <a:off x="2907792" y="2011680"/>
            <a:ext cx="2103120" cy="2926080"/>
          </a:xfrm>
          <a:prstGeom prst="rect">
            <a:avLst/>
          </a:prstGeom>
          <a:solidFill>
            <a:srgbClr val="F1F5F9"/>
          </a:solidFill>
          <a:ln w="9525">
            <a:solidFill>
              <a:srgbClr val="E2E8F0"/>
            </a:solidFill>
            <a:prstDash val="solid"/>
          </a:ln>
        </p:spPr>
      </p:sp>
      <p:sp>
        <p:nvSpPr>
          <p:cNvPr id="14" name="Shape 12"/>
          <p:cNvSpPr/>
          <p:nvPr/>
        </p:nvSpPr>
        <p:spPr>
          <a:xfrm>
            <a:off x="3685032" y="1691640"/>
            <a:ext cx="548640" cy="548640"/>
          </a:xfrm>
          <a:prstGeom prst="ellipse">
            <a:avLst/>
          </a:prstGeom>
          <a:solidFill>
            <a:srgbClr val="B91C1C"/>
          </a:solidFill>
          <a:ln w="12700">
            <a:solidFill>
              <a:srgbClr val="B91C1C"/>
            </a:solidFill>
            <a:prstDash val="solid"/>
          </a:ln>
        </p:spPr>
      </p:sp>
      <p:sp>
        <p:nvSpPr>
          <p:cNvPr id="15" name="Text 13"/>
          <p:cNvSpPr/>
          <p:nvPr/>
        </p:nvSpPr>
        <p:spPr>
          <a:xfrm>
            <a:off x="3685032" y="1719072"/>
            <a:ext cx="54864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6" name="Text 14"/>
          <p:cNvSpPr/>
          <p:nvPr/>
        </p:nvSpPr>
        <p:spPr>
          <a:xfrm>
            <a:off x="3044952" y="2423160"/>
            <a:ext cx="1828800" cy="548640"/>
          </a:xfrm>
          <a:prstGeom prst="rect">
            <a:avLst/>
          </a:prstGeom>
          <a:noFill/>
          <a:ln/>
        </p:spPr>
        <p:txBody>
          <a:bodyPr wrap="square" lIns="0" tIns="0" rIns="0" bIns="0" rtlCol="0" anchor="ctr"/>
          <a:lstStyle/>
          <a:p>
            <a:pPr algn="ctr" indent="0" marL="0">
              <a:buNone/>
            </a:pPr>
            <a:r>
              <a:rPr lang="en-US" sz="1600" b="1" dirty="0">
                <a:solidFill>
                  <a:srgbClr val="0F172A"/>
                </a:solidFill>
                <a:latin typeface="Georgia" pitchFamily="34" charset="0"/>
                <a:ea typeface="Georgia" pitchFamily="34" charset="-122"/>
                <a:cs typeface="Georgia" pitchFamily="34" charset="-120"/>
              </a:rPr>
              <a:t>Preproceso</a:t>
            </a:r>
            <a:endParaRPr lang="en-US" sz="1600" dirty="0"/>
          </a:p>
        </p:txBody>
      </p:sp>
      <p:sp>
        <p:nvSpPr>
          <p:cNvPr id="17" name="Text 15"/>
          <p:cNvSpPr/>
          <p:nvPr/>
        </p:nvSpPr>
        <p:spPr>
          <a:xfrm>
            <a:off x="3090672" y="3017520"/>
            <a:ext cx="1737360" cy="1783080"/>
          </a:xfrm>
          <a:prstGeom prst="rect">
            <a:avLst/>
          </a:prstGeom>
          <a:noFill/>
          <a:ln/>
        </p:spPr>
        <p:txBody>
          <a:bodyPr wrap="square"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Redim. 128×128. Normalización ImageNet. Aug. sin remuestreo (recorte+flips).</a:t>
            </a:r>
            <a:endParaRPr lang="en-US" sz="1200" dirty="0"/>
          </a:p>
        </p:txBody>
      </p:sp>
      <p:sp>
        <p:nvSpPr>
          <p:cNvPr id="18" name="Shape 16"/>
          <p:cNvSpPr/>
          <p:nvPr/>
        </p:nvSpPr>
        <p:spPr>
          <a:xfrm rot="5400000">
            <a:off x="5029200" y="3383280"/>
            <a:ext cx="118872" cy="182880"/>
          </a:xfrm>
          <a:prstGeom prst="rtTriangle">
            <a:avLst/>
          </a:prstGeom>
          <a:solidFill>
            <a:srgbClr val="B91C1C"/>
          </a:solidFill>
          <a:ln w="12700">
            <a:solidFill>
              <a:srgbClr val="B91C1C"/>
            </a:solidFill>
            <a:prstDash val="solid"/>
          </a:ln>
        </p:spPr>
      </p:sp>
      <p:sp>
        <p:nvSpPr>
          <p:cNvPr id="19" name="Shape 17"/>
          <p:cNvSpPr/>
          <p:nvPr/>
        </p:nvSpPr>
        <p:spPr>
          <a:xfrm>
            <a:off x="5175504" y="2011680"/>
            <a:ext cx="2103120" cy="2926080"/>
          </a:xfrm>
          <a:prstGeom prst="rect">
            <a:avLst/>
          </a:prstGeom>
          <a:solidFill>
            <a:srgbClr val="F1F5F9"/>
          </a:solidFill>
          <a:ln w="9525">
            <a:solidFill>
              <a:srgbClr val="E2E8F0"/>
            </a:solidFill>
            <a:prstDash val="solid"/>
          </a:ln>
        </p:spPr>
      </p:sp>
      <p:sp>
        <p:nvSpPr>
          <p:cNvPr id="20" name="Shape 18"/>
          <p:cNvSpPr/>
          <p:nvPr/>
        </p:nvSpPr>
        <p:spPr>
          <a:xfrm>
            <a:off x="5952744" y="1691640"/>
            <a:ext cx="548640" cy="548640"/>
          </a:xfrm>
          <a:prstGeom prst="ellipse">
            <a:avLst/>
          </a:prstGeom>
          <a:solidFill>
            <a:srgbClr val="B91C1C"/>
          </a:solidFill>
          <a:ln w="12700">
            <a:solidFill>
              <a:srgbClr val="B91C1C"/>
            </a:solidFill>
            <a:prstDash val="solid"/>
          </a:ln>
        </p:spPr>
      </p:sp>
      <p:sp>
        <p:nvSpPr>
          <p:cNvPr id="21" name="Text 19"/>
          <p:cNvSpPr/>
          <p:nvPr/>
        </p:nvSpPr>
        <p:spPr>
          <a:xfrm>
            <a:off x="5952744" y="1719072"/>
            <a:ext cx="54864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22" name="Text 20"/>
          <p:cNvSpPr/>
          <p:nvPr/>
        </p:nvSpPr>
        <p:spPr>
          <a:xfrm>
            <a:off x="5312664" y="2423160"/>
            <a:ext cx="1828800" cy="548640"/>
          </a:xfrm>
          <a:prstGeom prst="rect">
            <a:avLst/>
          </a:prstGeom>
          <a:noFill/>
          <a:ln/>
        </p:spPr>
        <p:txBody>
          <a:bodyPr wrap="square" lIns="0" tIns="0" rIns="0" bIns="0" rtlCol="0" anchor="ctr"/>
          <a:lstStyle/>
          <a:p>
            <a:pPr algn="ctr" indent="0" marL="0">
              <a:buNone/>
            </a:pPr>
            <a:r>
              <a:rPr lang="en-US" sz="1600" b="1" dirty="0">
                <a:solidFill>
                  <a:srgbClr val="0F172A"/>
                </a:solidFill>
                <a:latin typeface="Georgia" pitchFamily="34" charset="0"/>
                <a:ea typeface="Georgia" pitchFamily="34" charset="-122"/>
                <a:cs typeface="Georgia" pitchFamily="34" charset="-120"/>
              </a:rPr>
              <a:t>Entrenamiento</a:t>
            </a:r>
            <a:endParaRPr lang="en-US" sz="1600" dirty="0"/>
          </a:p>
        </p:txBody>
      </p:sp>
      <p:sp>
        <p:nvSpPr>
          <p:cNvPr id="23" name="Text 21"/>
          <p:cNvSpPr/>
          <p:nvPr/>
        </p:nvSpPr>
        <p:spPr>
          <a:xfrm>
            <a:off x="5358384" y="3017520"/>
            <a:ext cx="1737360" cy="1783080"/>
          </a:xfrm>
          <a:prstGeom prst="rect">
            <a:avLst/>
          </a:prstGeom>
          <a:noFill/>
          <a:ln/>
        </p:spPr>
        <p:txBody>
          <a:bodyPr wrap="square"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Adam, ReduceLROnPlateau, early stopping por F1 de validación.</a:t>
            </a:r>
            <a:endParaRPr lang="en-US" sz="1200" dirty="0"/>
          </a:p>
        </p:txBody>
      </p:sp>
      <p:sp>
        <p:nvSpPr>
          <p:cNvPr id="24" name="Shape 22"/>
          <p:cNvSpPr/>
          <p:nvPr/>
        </p:nvSpPr>
        <p:spPr>
          <a:xfrm rot="5400000">
            <a:off x="7296912" y="3383280"/>
            <a:ext cx="118872" cy="182880"/>
          </a:xfrm>
          <a:prstGeom prst="rtTriangle">
            <a:avLst/>
          </a:prstGeom>
          <a:solidFill>
            <a:srgbClr val="B91C1C"/>
          </a:solidFill>
          <a:ln w="12700">
            <a:solidFill>
              <a:srgbClr val="B91C1C"/>
            </a:solidFill>
            <a:prstDash val="solid"/>
          </a:ln>
        </p:spPr>
      </p:sp>
      <p:sp>
        <p:nvSpPr>
          <p:cNvPr id="25" name="Shape 23"/>
          <p:cNvSpPr/>
          <p:nvPr/>
        </p:nvSpPr>
        <p:spPr>
          <a:xfrm>
            <a:off x="7443216" y="2011680"/>
            <a:ext cx="2103120" cy="2926080"/>
          </a:xfrm>
          <a:prstGeom prst="rect">
            <a:avLst/>
          </a:prstGeom>
          <a:solidFill>
            <a:srgbClr val="F1F5F9"/>
          </a:solidFill>
          <a:ln w="9525">
            <a:solidFill>
              <a:srgbClr val="E2E8F0"/>
            </a:solidFill>
            <a:prstDash val="solid"/>
          </a:ln>
        </p:spPr>
      </p:sp>
      <p:sp>
        <p:nvSpPr>
          <p:cNvPr id="26" name="Shape 24"/>
          <p:cNvSpPr/>
          <p:nvPr/>
        </p:nvSpPr>
        <p:spPr>
          <a:xfrm>
            <a:off x="8220456" y="1691640"/>
            <a:ext cx="548640" cy="548640"/>
          </a:xfrm>
          <a:prstGeom prst="ellipse">
            <a:avLst/>
          </a:prstGeom>
          <a:solidFill>
            <a:srgbClr val="B91C1C"/>
          </a:solidFill>
          <a:ln w="12700">
            <a:solidFill>
              <a:srgbClr val="B91C1C"/>
            </a:solidFill>
            <a:prstDash val="solid"/>
          </a:ln>
        </p:spPr>
      </p:sp>
      <p:sp>
        <p:nvSpPr>
          <p:cNvPr id="27" name="Text 25"/>
          <p:cNvSpPr/>
          <p:nvPr/>
        </p:nvSpPr>
        <p:spPr>
          <a:xfrm>
            <a:off x="8220456" y="1719072"/>
            <a:ext cx="54864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8" name="Text 26"/>
          <p:cNvSpPr/>
          <p:nvPr/>
        </p:nvSpPr>
        <p:spPr>
          <a:xfrm>
            <a:off x="7580376" y="2423160"/>
            <a:ext cx="1828800" cy="548640"/>
          </a:xfrm>
          <a:prstGeom prst="rect">
            <a:avLst/>
          </a:prstGeom>
          <a:noFill/>
          <a:ln/>
        </p:spPr>
        <p:txBody>
          <a:bodyPr wrap="square" lIns="0" tIns="0" rIns="0" bIns="0" rtlCol="0" anchor="ctr"/>
          <a:lstStyle/>
          <a:p>
            <a:pPr algn="ctr" indent="0" marL="0">
              <a:buNone/>
            </a:pPr>
            <a:r>
              <a:rPr lang="en-US" sz="1600" b="1" dirty="0">
                <a:solidFill>
                  <a:srgbClr val="0F172A"/>
                </a:solidFill>
                <a:latin typeface="Georgia" pitchFamily="34" charset="0"/>
                <a:ea typeface="Georgia" pitchFamily="34" charset="-122"/>
                <a:cs typeface="Georgia" pitchFamily="34" charset="-120"/>
              </a:rPr>
              <a:t>Evaluación</a:t>
            </a:r>
            <a:endParaRPr lang="en-US" sz="1600" dirty="0"/>
          </a:p>
        </p:txBody>
      </p:sp>
      <p:sp>
        <p:nvSpPr>
          <p:cNvPr id="29" name="Text 27"/>
          <p:cNvSpPr/>
          <p:nvPr/>
        </p:nvSpPr>
        <p:spPr>
          <a:xfrm>
            <a:off x="7626096" y="3017520"/>
            <a:ext cx="1737360" cy="1783080"/>
          </a:xfrm>
          <a:prstGeom prst="rect">
            <a:avLst/>
          </a:prstGeom>
          <a:noFill/>
          <a:ln/>
        </p:spPr>
        <p:txBody>
          <a:bodyPr wrap="square"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Test oficial: Acc, P, R, F1, AUC-ROC + matriz de confusión.</a:t>
            </a:r>
            <a:endParaRPr lang="en-US" sz="1200" dirty="0"/>
          </a:p>
        </p:txBody>
      </p:sp>
      <p:sp>
        <p:nvSpPr>
          <p:cNvPr id="30" name="Shape 28"/>
          <p:cNvSpPr/>
          <p:nvPr/>
        </p:nvSpPr>
        <p:spPr>
          <a:xfrm rot="5400000">
            <a:off x="9564624" y="3383280"/>
            <a:ext cx="118872" cy="182880"/>
          </a:xfrm>
          <a:prstGeom prst="rtTriangle">
            <a:avLst/>
          </a:prstGeom>
          <a:solidFill>
            <a:srgbClr val="B91C1C"/>
          </a:solidFill>
          <a:ln w="12700">
            <a:solidFill>
              <a:srgbClr val="B91C1C"/>
            </a:solidFill>
            <a:prstDash val="solid"/>
          </a:ln>
        </p:spPr>
      </p:sp>
      <p:sp>
        <p:nvSpPr>
          <p:cNvPr id="31" name="Shape 29"/>
          <p:cNvSpPr/>
          <p:nvPr/>
        </p:nvSpPr>
        <p:spPr>
          <a:xfrm>
            <a:off x="9710928" y="2011680"/>
            <a:ext cx="2103120" cy="2926080"/>
          </a:xfrm>
          <a:prstGeom prst="rect">
            <a:avLst/>
          </a:prstGeom>
          <a:solidFill>
            <a:srgbClr val="F1F5F9"/>
          </a:solidFill>
          <a:ln w="9525">
            <a:solidFill>
              <a:srgbClr val="E2E8F0"/>
            </a:solidFill>
            <a:prstDash val="solid"/>
          </a:ln>
        </p:spPr>
      </p:sp>
      <p:sp>
        <p:nvSpPr>
          <p:cNvPr id="32" name="Shape 30"/>
          <p:cNvSpPr/>
          <p:nvPr/>
        </p:nvSpPr>
        <p:spPr>
          <a:xfrm>
            <a:off x="10488168" y="1691640"/>
            <a:ext cx="548640" cy="548640"/>
          </a:xfrm>
          <a:prstGeom prst="ellipse">
            <a:avLst/>
          </a:prstGeom>
          <a:solidFill>
            <a:srgbClr val="B91C1C"/>
          </a:solidFill>
          <a:ln w="12700">
            <a:solidFill>
              <a:srgbClr val="B91C1C"/>
            </a:solidFill>
            <a:prstDash val="solid"/>
          </a:ln>
        </p:spPr>
      </p:sp>
      <p:sp>
        <p:nvSpPr>
          <p:cNvPr id="33" name="Text 31"/>
          <p:cNvSpPr/>
          <p:nvPr/>
        </p:nvSpPr>
        <p:spPr>
          <a:xfrm>
            <a:off x="10488168" y="1719072"/>
            <a:ext cx="54864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34" name="Text 32"/>
          <p:cNvSpPr/>
          <p:nvPr/>
        </p:nvSpPr>
        <p:spPr>
          <a:xfrm>
            <a:off x="9848088" y="2423160"/>
            <a:ext cx="1828800" cy="548640"/>
          </a:xfrm>
          <a:prstGeom prst="rect">
            <a:avLst/>
          </a:prstGeom>
          <a:noFill/>
          <a:ln/>
        </p:spPr>
        <p:txBody>
          <a:bodyPr wrap="square" lIns="0" tIns="0" rIns="0" bIns="0" rtlCol="0" anchor="ctr"/>
          <a:lstStyle/>
          <a:p>
            <a:pPr algn="ctr" indent="0" marL="0">
              <a:buNone/>
            </a:pPr>
            <a:r>
              <a:rPr lang="en-US" sz="1600" b="1" dirty="0">
                <a:solidFill>
                  <a:srgbClr val="0F172A"/>
                </a:solidFill>
                <a:latin typeface="Georgia" pitchFamily="34" charset="0"/>
                <a:ea typeface="Georgia" pitchFamily="34" charset="-122"/>
                <a:cs typeface="Georgia" pitchFamily="34" charset="-120"/>
              </a:rPr>
              <a:t>Interpretación</a:t>
            </a:r>
            <a:endParaRPr lang="en-US" sz="1600" dirty="0"/>
          </a:p>
        </p:txBody>
      </p:sp>
      <p:sp>
        <p:nvSpPr>
          <p:cNvPr id="35" name="Text 33"/>
          <p:cNvSpPr/>
          <p:nvPr/>
        </p:nvSpPr>
        <p:spPr>
          <a:xfrm>
            <a:off x="9893808" y="3017520"/>
            <a:ext cx="1737360" cy="1783080"/>
          </a:xfrm>
          <a:prstGeom prst="rect">
            <a:avLst/>
          </a:prstGeom>
          <a:noFill/>
          <a:ln/>
        </p:spPr>
        <p:txBody>
          <a:bodyPr wrap="square"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Grad-CAM, análisis de desbalance y análisis cualitativo de fallos.</a:t>
            </a:r>
            <a:endParaRPr lang="en-US" sz="1200" dirty="0"/>
          </a:p>
        </p:txBody>
      </p:sp>
      <p:sp>
        <p:nvSpPr>
          <p:cNvPr id="36" name="Shape 34"/>
          <p:cNvSpPr/>
          <p:nvPr/>
        </p:nvSpPr>
        <p:spPr>
          <a:xfrm>
            <a:off x="640080" y="5257800"/>
            <a:ext cx="10881360" cy="914400"/>
          </a:xfrm>
          <a:prstGeom prst="rect">
            <a:avLst/>
          </a:prstGeom>
          <a:solidFill>
            <a:srgbClr val="0F172A"/>
          </a:solidFill>
          <a:ln w="9525">
            <a:solidFill>
              <a:srgbClr val="0F172A"/>
            </a:solidFill>
            <a:prstDash val="solid"/>
          </a:ln>
        </p:spPr>
      </p:sp>
      <p:sp>
        <p:nvSpPr>
          <p:cNvPr id="37" name="Text 35"/>
          <p:cNvSpPr/>
          <p:nvPr/>
        </p:nvSpPr>
        <p:spPr>
          <a:xfrm>
            <a:off x="868680" y="5349240"/>
            <a:ext cx="1828800" cy="27432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CONFIGURACIÓN</a:t>
            </a:r>
            <a:endParaRPr lang="en-US" sz="1100" dirty="0"/>
          </a:p>
        </p:txBody>
      </p:sp>
      <p:sp>
        <p:nvSpPr>
          <p:cNvPr id="38" name="Text 36"/>
          <p:cNvSpPr/>
          <p:nvPr/>
        </p:nvSpPr>
        <p:spPr>
          <a:xfrm>
            <a:off x="868680" y="5623560"/>
            <a:ext cx="10332720" cy="50292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Adam (lr=1e-3 CNN propia, 5e-4 ResNet-50)  ·  weight decay 1e-4  ·  imagen 128×128  ·  semilla 42  ·  CPU, 1 núcleo  ·  caché en disco para reanudación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1C1C"/>
          </a:solidFill>
          <a:ln w="12700">
            <a:solidFill>
              <a:srgbClr val="B91C1C"/>
            </a:solidFill>
            <a:prstDash val="solid"/>
          </a:ln>
        </p:spPr>
      </p:sp>
      <p:sp>
        <p:nvSpPr>
          <p:cNvPr id="3" name="Text 1"/>
          <p:cNvSpPr/>
          <p:nvPr/>
        </p:nvSpPr>
        <p:spPr>
          <a:xfrm>
            <a:off x="411480" y="274320"/>
            <a:ext cx="822960" cy="32004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5/14</a:t>
            </a:r>
            <a:endParaRPr lang="en-US" sz="1100" dirty="0"/>
          </a:p>
        </p:txBody>
      </p:sp>
      <p:sp>
        <p:nvSpPr>
          <p:cNvPr id="4" name="Text 2"/>
          <p:cNvSpPr/>
          <p:nvPr/>
        </p:nvSpPr>
        <p:spPr>
          <a:xfrm>
            <a:off x="411480" y="502920"/>
            <a:ext cx="1136873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Arquitecturas</a:t>
            </a:r>
            <a:endParaRPr lang="en-US" sz="28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Dos enfoques contrastantes sobre los mismos datos</a:t>
            </a:r>
            <a:endParaRPr lang="en-US" sz="1400" dirty="0"/>
          </a:p>
        </p:txBody>
      </p:sp>
      <p:sp>
        <p:nvSpPr>
          <p:cNvPr id="6" name="Text 4"/>
          <p:cNvSpPr/>
          <p:nvPr/>
        </p:nvSpPr>
        <p:spPr>
          <a:xfrm>
            <a:off x="411480" y="6473952"/>
            <a:ext cx="11368735"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Grupo Nº 1 - MIA UNI 2026-1 · Clasificación de llantas dañadas (CNN + transfer learning)</a:t>
            </a:r>
            <a:endParaRPr lang="en-US" sz="900" dirty="0"/>
          </a:p>
        </p:txBody>
      </p:sp>
      <p:sp>
        <p:nvSpPr>
          <p:cNvPr id="7" name="Shape 5"/>
          <p:cNvSpPr/>
          <p:nvPr/>
        </p:nvSpPr>
        <p:spPr>
          <a:xfrm>
            <a:off x="640080" y="1874520"/>
            <a:ext cx="5394960" cy="4297680"/>
          </a:xfrm>
          <a:prstGeom prst="rect">
            <a:avLst/>
          </a:prstGeom>
          <a:solidFill>
            <a:srgbClr val="FFFFFF"/>
          </a:solidFill>
          <a:ln w="9525">
            <a:solidFill>
              <a:srgbClr val="E2E8F0"/>
            </a:solidFill>
            <a:prstDash val="solid"/>
          </a:ln>
        </p:spPr>
      </p:sp>
      <p:sp>
        <p:nvSpPr>
          <p:cNvPr id="8" name="Shape 6"/>
          <p:cNvSpPr/>
          <p:nvPr/>
        </p:nvSpPr>
        <p:spPr>
          <a:xfrm>
            <a:off x="640080" y="1874520"/>
            <a:ext cx="5394960" cy="502920"/>
          </a:xfrm>
          <a:prstGeom prst="rect">
            <a:avLst/>
          </a:prstGeom>
          <a:solidFill>
            <a:srgbClr val="1E293B"/>
          </a:solidFill>
          <a:ln w="12700">
            <a:solidFill>
              <a:srgbClr val="1E293B"/>
            </a:solidFill>
            <a:prstDash val="solid"/>
          </a:ln>
        </p:spPr>
      </p:sp>
      <p:sp>
        <p:nvSpPr>
          <p:cNvPr id="9" name="Text 7"/>
          <p:cNvSpPr/>
          <p:nvPr/>
        </p:nvSpPr>
        <p:spPr>
          <a:xfrm>
            <a:off x="777240" y="1920240"/>
            <a:ext cx="5212080" cy="41148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CNN PROPIA (desde cero)</a:t>
            </a:r>
            <a:endParaRPr lang="en-US" sz="1600" dirty="0"/>
          </a:p>
        </p:txBody>
      </p:sp>
      <p:sp>
        <p:nvSpPr>
          <p:cNvPr id="10" name="Text 8"/>
          <p:cNvSpPr/>
          <p:nvPr/>
        </p:nvSpPr>
        <p:spPr>
          <a:xfrm>
            <a:off x="868680" y="2514600"/>
            <a:ext cx="5029200" cy="2743200"/>
          </a:xfrm>
          <a:prstGeom prst="rect">
            <a:avLst/>
          </a:prstGeom>
          <a:noFill/>
          <a:ln/>
        </p:spPr>
        <p:txBody>
          <a:bodyPr wrap="square" rtlCol="0" anchor="t"/>
          <a:lstStyle/>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Stem Conv 3×3 stride 2 + MaxPool (reduce el mapa de mayor resolución).</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3 bloques residuales (Conv-BN-ReLU ×2 + atajo proyectado + Pool).</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Global Average Pooling + MLP con Dropout(0.4).</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Anchos: 48 → 96 → 192.</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Todos los componentes implementados explícitamente.</a:t>
            </a:r>
            <a:endParaRPr lang="en-US" sz="1300" dirty="0"/>
          </a:p>
        </p:txBody>
      </p:sp>
      <p:sp>
        <p:nvSpPr>
          <p:cNvPr id="11" name="Shape 9"/>
          <p:cNvSpPr/>
          <p:nvPr/>
        </p:nvSpPr>
        <p:spPr>
          <a:xfrm>
            <a:off x="868680" y="5349240"/>
            <a:ext cx="2377440" cy="685800"/>
          </a:xfrm>
          <a:prstGeom prst="rect">
            <a:avLst/>
          </a:prstGeom>
          <a:solidFill>
            <a:srgbClr val="FFFFFF"/>
          </a:solidFill>
          <a:ln w="9525">
            <a:solidFill>
              <a:srgbClr val="E2E8F0"/>
            </a:solidFill>
            <a:prstDash val="solid"/>
          </a:ln>
        </p:spPr>
      </p:sp>
      <p:sp>
        <p:nvSpPr>
          <p:cNvPr id="12" name="Shape 10"/>
          <p:cNvSpPr/>
          <p:nvPr/>
        </p:nvSpPr>
        <p:spPr>
          <a:xfrm>
            <a:off x="868680" y="5349240"/>
            <a:ext cx="73152" cy="685800"/>
          </a:xfrm>
          <a:prstGeom prst="rect">
            <a:avLst/>
          </a:prstGeom>
          <a:solidFill>
            <a:srgbClr val="1E293B"/>
          </a:solidFill>
          <a:ln w="12700">
            <a:solidFill>
              <a:srgbClr val="1E293B"/>
            </a:solidFill>
            <a:prstDash val="solid"/>
          </a:ln>
        </p:spPr>
      </p:sp>
      <p:sp>
        <p:nvSpPr>
          <p:cNvPr id="13" name="Text 11"/>
          <p:cNvSpPr/>
          <p:nvPr/>
        </p:nvSpPr>
        <p:spPr>
          <a:xfrm>
            <a:off x="1051560" y="5422392"/>
            <a:ext cx="2103120" cy="377190"/>
          </a:xfrm>
          <a:prstGeom prst="rect">
            <a:avLst/>
          </a:prstGeom>
          <a:noFill/>
          <a:ln/>
        </p:spPr>
        <p:txBody>
          <a:bodyPr wrap="square" lIns="0" tIns="0" rIns="0" bIns="0" rtlCol="0" anchor="ctr"/>
          <a:lstStyle/>
          <a:p>
            <a:pPr indent="0" marL="0">
              <a:buNone/>
            </a:pPr>
            <a:r>
              <a:rPr lang="en-US" sz="3200" b="1" dirty="0">
                <a:solidFill>
                  <a:srgbClr val="1E293B"/>
                </a:solidFill>
                <a:latin typeface="Georgia" pitchFamily="34" charset="0"/>
                <a:ea typeface="Georgia" pitchFamily="34" charset="-122"/>
                <a:cs typeface="Georgia" pitchFamily="34" charset="-120"/>
              </a:rPr>
              <a:t>0.71 M</a:t>
            </a:r>
            <a:endParaRPr lang="en-US" sz="3200" dirty="0"/>
          </a:p>
        </p:txBody>
      </p:sp>
      <p:sp>
        <p:nvSpPr>
          <p:cNvPr id="14" name="Text 12"/>
          <p:cNvSpPr/>
          <p:nvPr/>
        </p:nvSpPr>
        <p:spPr>
          <a:xfrm>
            <a:off x="1051560" y="5726430"/>
            <a:ext cx="2103120" cy="28803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parámetros (todos entrenables)</a:t>
            </a:r>
            <a:endParaRPr lang="en-US" sz="1100" dirty="0"/>
          </a:p>
        </p:txBody>
      </p:sp>
      <p:sp>
        <p:nvSpPr>
          <p:cNvPr id="15" name="Shape 13"/>
          <p:cNvSpPr/>
          <p:nvPr/>
        </p:nvSpPr>
        <p:spPr>
          <a:xfrm>
            <a:off x="3429000" y="5349240"/>
            <a:ext cx="2377440" cy="685800"/>
          </a:xfrm>
          <a:prstGeom prst="rect">
            <a:avLst/>
          </a:prstGeom>
          <a:solidFill>
            <a:srgbClr val="FFFFFF"/>
          </a:solidFill>
          <a:ln w="9525">
            <a:solidFill>
              <a:srgbClr val="E2E8F0"/>
            </a:solidFill>
            <a:prstDash val="solid"/>
          </a:ln>
        </p:spPr>
      </p:sp>
      <p:sp>
        <p:nvSpPr>
          <p:cNvPr id="16" name="Shape 14"/>
          <p:cNvSpPr/>
          <p:nvPr/>
        </p:nvSpPr>
        <p:spPr>
          <a:xfrm>
            <a:off x="3429000" y="5349240"/>
            <a:ext cx="73152" cy="685800"/>
          </a:xfrm>
          <a:prstGeom prst="rect">
            <a:avLst/>
          </a:prstGeom>
          <a:solidFill>
            <a:srgbClr val="1E293B"/>
          </a:solidFill>
          <a:ln w="12700">
            <a:solidFill>
              <a:srgbClr val="1E293B"/>
            </a:solidFill>
            <a:prstDash val="solid"/>
          </a:ln>
        </p:spPr>
      </p:sp>
      <p:sp>
        <p:nvSpPr>
          <p:cNvPr id="17" name="Text 15"/>
          <p:cNvSpPr/>
          <p:nvPr/>
        </p:nvSpPr>
        <p:spPr>
          <a:xfrm>
            <a:off x="3611880" y="5422392"/>
            <a:ext cx="2103120" cy="377190"/>
          </a:xfrm>
          <a:prstGeom prst="rect">
            <a:avLst/>
          </a:prstGeom>
          <a:noFill/>
          <a:ln/>
        </p:spPr>
        <p:txBody>
          <a:bodyPr wrap="square" lIns="0" tIns="0" rIns="0" bIns="0" rtlCol="0" anchor="ctr"/>
          <a:lstStyle/>
          <a:p>
            <a:pPr indent="0" marL="0">
              <a:buNone/>
            </a:pPr>
            <a:r>
              <a:rPr lang="en-US" sz="3200" b="1" dirty="0">
                <a:solidFill>
                  <a:srgbClr val="1E293B"/>
                </a:solidFill>
                <a:latin typeface="Georgia" pitchFamily="34" charset="0"/>
                <a:ea typeface="Georgia" pitchFamily="34" charset="-122"/>
                <a:cs typeface="Georgia" pitchFamily="34" charset="-120"/>
              </a:rPr>
              <a:t>128×128</a:t>
            </a:r>
            <a:endParaRPr lang="en-US" sz="3200" dirty="0"/>
          </a:p>
        </p:txBody>
      </p:sp>
      <p:sp>
        <p:nvSpPr>
          <p:cNvPr id="18" name="Text 16"/>
          <p:cNvSpPr/>
          <p:nvPr/>
        </p:nvSpPr>
        <p:spPr>
          <a:xfrm>
            <a:off x="3611880" y="5726430"/>
            <a:ext cx="2103120" cy="28803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resolución de entrada</a:t>
            </a:r>
            <a:endParaRPr lang="en-US" sz="1100" dirty="0"/>
          </a:p>
        </p:txBody>
      </p:sp>
      <p:sp>
        <p:nvSpPr>
          <p:cNvPr id="19" name="Shape 17"/>
          <p:cNvSpPr/>
          <p:nvPr/>
        </p:nvSpPr>
        <p:spPr>
          <a:xfrm>
            <a:off x="6172200" y="1874520"/>
            <a:ext cx="5394960" cy="4297680"/>
          </a:xfrm>
          <a:prstGeom prst="rect">
            <a:avLst/>
          </a:prstGeom>
          <a:solidFill>
            <a:srgbClr val="FFFFFF"/>
          </a:solidFill>
          <a:ln w="9525">
            <a:solidFill>
              <a:srgbClr val="E2E8F0"/>
            </a:solidFill>
            <a:prstDash val="solid"/>
          </a:ln>
        </p:spPr>
      </p:sp>
      <p:sp>
        <p:nvSpPr>
          <p:cNvPr id="20" name="Shape 18"/>
          <p:cNvSpPr/>
          <p:nvPr/>
        </p:nvSpPr>
        <p:spPr>
          <a:xfrm>
            <a:off x="6172200" y="1874520"/>
            <a:ext cx="5394960" cy="502920"/>
          </a:xfrm>
          <a:prstGeom prst="rect">
            <a:avLst/>
          </a:prstGeom>
          <a:solidFill>
            <a:srgbClr val="B91C1C"/>
          </a:solidFill>
          <a:ln w="12700">
            <a:solidFill>
              <a:srgbClr val="B91C1C"/>
            </a:solidFill>
            <a:prstDash val="solid"/>
          </a:ln>
        </p:spPr>
      </p:sp>
      <p:sp>
        <p:nvSpPr>
          <p:cNvPr id="21" name="Text 19"/>
          <p:cNvSpPr/>
          <p:nvPr/>
        </p:nvSpPr>
        <p:spPr>
          <a:xfrm>
            <a:off x="6309360" y="1920240"/>
            <a:ext cx="5212080" cy="41148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RESNET-50 (transfer learning)</a:t>
            </a:r>
            <a:endParaRPr lang="en-US" sz="1600" dirty="0"/>
          </a:p>
        </p:txBody>
      </p:sp>
      <p:sp>
        <p:nvSpPr>
          <p:cNvPr id="22" name="Text 20"/>
          <p:cNvSpPr/>
          <p:nvPr/>
        </p:nvSpPr>
        <p:spPr>
          <a:xfrm>
            <a:off x="6400800" y="2514600"/>
            <a:ext cx="5029200" cy="2743200"/>
          </a:xfrm>
          <a:prstGeom prst="rect">
            <a:avLst/>
          </a:prstGeom>
          <a:noFill/>
          <a:ln/>
        </p:spPr>
        <p:txBody>
          <a:bodyPr wrap="square" rtlCol="0" anchor="t"/>
          <a:lstStyle/>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Pesos preentrenados en ImageNet.</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Cabeza nueva: Linear(2048 → 2).</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Fine-tuning parcial: se entrena layer4 + fc.</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Se congela conv1, bn1, layer1, layer2, layer3.</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Justificación: con ~600 imágenes, ajustar la red completa sobreajusta.</a:t>
            </a:r>
            <a:endParaRPr lang="en-US" sz="1300" dirty="0"/>
          </a:p>
        </p:txBody>
      </p:sp>
      <p:sp>
        <p:nvSpPr>
          <p:cNvPr id="23" name="Shape 21"/>
          <p:cNvSpPr/>
          <p:nvPr/>
        </p:nvSpPr>
        <p:spPr>
          <a:xfrm>
            <a:off x="6400800" y="5349240"/>
            <a:ext cx="2377440" cy="685800"/>
          </a:xfrm>
          <a:prstGeom prst="rect">
            <a:avLst/>
          </a:prstGeom>
          <a:solidFill>
            <a:srgbClr val="FFFFFF"/>
          </a:solidFill>
          <a:ln w="9525">
            <a:solidFill>
              <a:srgbClr val="E2E8F0"/>
            </a:solidFill>
            <a:prstDash val="solid"/>
          </a:ln>
        </p:spPr>
      </p:sp>
      <p:sp>
        <p:nvSpPr>
          <p:cNvPr id="24" name="Shape 22"/>
          <p:cNvSpPr/>
          <p:nvPr/>
        </p:nvSpPr>
        <p:spPr>
          <a:xfrm>
            <a:off x="6400800" y="5349240"/>
            <a:ext cx="73152" cy="685800"/>
          </a:xfrm>
          <a:prstGeom prst="rect">
            <a:avLst/>
          </a:prstGeom>
          <a:solidFill>
            <a:srgbClr val="B91C1C"/>
          </a:solidFill>
          <a:ln w="12700">
            <a:solidFill>
              <a:srgbClr val="B91C1C"/>
            </a:solidFill>
            <a:prstDash val="solid"/>
          </a:ln>
        </p:spPr>
      </p:sp>
      <p:sp>
        <p:nvSpPr>
          <p:cNvPr id="25" name="Text 23"/>
          <p:cNvSpPr/>
          <p:nvPr/>
        </p:nvSpPr>
        <p:spPr>
          <a:xfrm>
            <a:off x="6583680" y="5422392"/>
            <a:ext cx="2103120" cy="377190"/>
          </a:xfrm>
          <a:prstGeom prst="rect">
            <a:avLst/>
          </a:prstGeom>
          <a:noFill/>
          <a:ln/>
        </p:spPr>
        <p:txBody>
          <a:bodyPr wrap="square" lIns="0" tIns="0" rIns="0" bIns="0" rtlCol="0" anchor="ctr"/>
          <a:lstStyle/>
          <a:p>
            <a:pPr indent="0" marL="0">
              <a:buNone/>
            </a:pPr>
            <a:r>
              <a:rPr lang="en-US" sz="3200" b="1" dirty="0">
                <a:solidFill>
                  <a:srgbClr val="B91C1C"/>
                </a:solidFill>
                <a:latin typeface="Georgia" pitchFamily="34" charset="0"/>
                <a:ea typeface="Georgia" pitchFamily="34" charset="-122"/>
                <a:cs typeface="Georgia" pitchFamily="34" charset="-120"/>
              </a:rPr>
              <a:t>14.97 M</a:t>
            </a:r>
            <a:endParaRPr lang="en-US" sz="3200" dirty="0"/>
          </a:p>
        </p:txBody>
      </p:sp>
      <p:sp>
        <p:nvSpPr>
          <p:cNvPr id="26" name="Text 24"/>
          <p:cNvSpPr/>
          <p:nvPr/>
        </p:nvSpPr>
        <p:spPr>
          <a:xfrm>
            <a:off x="6583680" y="5726430"/>
            <a:ext cx="2103120" cy="28803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entrenables (de 23.5 M)</a:t>
            </a:r>
            <a:endParaRPr lang="en-US" sz="1100" dirty="0"/>
          </a:p>
        </p:txBody>
      </p:sp>
      <p:sp>
        <p:nvSpPr>
          <p:cNvPr id="27" name="Shape 25"/>
          <p:cNvSpPr/>
          <p:nvPr/>
        </p:nvSpPr>
        <p:spPr>
          <a:xfrm>
            <a:off x="8961120" y="5349240"/>
            <a:ext cx="2377440" cy="685800"/>
          </a:xfrm>
          <a:prstGeom prst="rect">
            <a:avLst/>
          </a:prstGeom>
          <a:solidFill>
            <a:srgbClr val="FFFFFF"/>
          </a:solidFill>
          <a:ln w="9525">
            <a:solidFill>
              <a:srgbClr val="E2E8F0"/>
            </a:solidFill>
            <a:prstDash val="solid"/>
          </a:ln>
        </p:spPr>
      </p:sp>
      <p:sp>
        <p:nvSpPr>
          <p:cNvPr id="28" name="Shape 26"/>
          <p:cNvSpPr/>
          <p:nvPr/>
        </p:nvSpPr>
        <p:spPr>
          <a:xfrm>
            <a:off x="8961120" y="5349240"/>
            <a:ext cx="73152" cy="685800"/>
          </a:xfrm>
          <a:prstGeom prst="rect">
            <a:avLst/>
          </a:prstGeom>
          <a:solidFill>
            <a:srgbClr val="B91C1C"/>
          </a:solidFill>
          <a:ln w="12700">
            <a:solidFill>
              <a:srgbClr val="B91C1C"/>
            </a:solidFill>
            <a:prstDash val="solid"/>
          </a:ln>
        </p:spPr>
      </p:sp>
      <p:sp>
        <p:nvSpPr>
          <p:cNvPr id="29" name="Text 27"/>
          <p:cNvSpPr/>
          <p:nvPr/>
        </p:nvSpPr>
        <p:spPr>
          <a:xfrm>
            <a:off x="9144000" y="5422392"/>
            <a:ext cx="2103120" cy="377190"/>
          </a:xfrm>
          <a:prstGeom prst="rect">
            <a:avLst/>
          </a:prstGeom>
          <a:noFill/>
          <a:ln/>
        </p:spPr>
        <p:txBody>
          <a:bodyPr wrap="square" lIns="0" tIns="0" rIns="0" bIns="0" rtlCol="0" anchor="ctr"/>
          <a:lstStyle/>
          <a:p>
            <a:pPr indent="0" marL="0">
              <a:buNone/>
            </a:pPr>
            <a:r>
              <a:rPr lang="en-US" sz="2200" b="1" dirty="0">
                <a:solidFill>
                  <a:srgbClr val="B91C1C"/>
                </a:solidFill>
                <a:latin typeface="Georgia" pitchFamily="34" charset="0"/>
                <a:ea typeface="Georgia" pitchFamily="34" charset="-122"/>
                <a:cs typeface="Georgia" pitchFamily="34" charset="-120"/>
              </a:rPr>
              <a:t>ImageNet</a:t>
            </a:r>
            <a:endParaRPr lang="en-US" sz="2200" dirty="0"/>
          </a:p>
        </p:txBody>
      </p:sp>
      <p:sp>
        <p:nvSpPr>
          <p:cNvPr id="30" name="Text 28"/>
          <p:cNvSpPr/>
          <p:nvPr/>
        </p:nvSpPr>
        <p:spPr>
          <a:xfrm>
            <a:off x="9144000" y="5726430"/>
            <a:ext cx="2103120" cy="28803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backbone preentrenado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1C1C"/>
          </a:solidFill>
          <a:ln w="12700">
            <a:solidFill>
              <a:srgbClr val="B91C1C"/>
            </a:solidFill>
            <a:prstDash val="solid"/>
          </a:ln>
        </p:spPr>
      </p:sp>
      <p:sp>
        <p:nvSpPr>
          <p:cNvPr id="3" name="Text 1"/>
          <p:cNvSpPr/>
          <p:nvPr/>
        </p:nvSpPr>
        <p:spPr>
          <a:xfrm>
            <a:off x="411480" y="274320"/>
            <a:ext cx="822960" cy="32004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6/14</a:t>
            </a:r>
            <a:endParaRPr lang="en-US" sz="1100" dirty="0"/>
          </a:p>
        </p:txBody>
      </p:sp>
      <p:sp>
        <p:nvSpPr>
          <p:cNvPr id="4" name="Text 2"/>
          <p:cNvSpPr/>
          <p:nvPr/>
        </p:nvSpPr>
        <p:spPr>
          <a:xfrm>
            <a:off x="411480" y="502920"/>
            <a:ext cx="1136873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Mitigación del desbalance</a:t>
            </a:r>
            <a:endParaRPr lang="en-US" sz="28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Tres estrategias evaluadas sobre la CNN propia</a:t>
            </a:r>
            <a:endParaRPr lang="en-US" sz="1400" dirty="0"/>
          </a:p>
        </p:txBody>
      </p:sp>
      <p:sp>
        <p:nvSpPr>
          <p:cNvPr id="6" name="Text 4"/>
          <p:cNvSpPr/>
          <p:nvPr/>
        </p:nvSpPr>
        <p:spPr>
          <a:xfrm>
            <a:off x="411480" y="6473952"/>
            <a:ext cx="11368735"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Grupo Nº 1 - MIA UNI 2026-1 · Clasificación de llantas dañadas (CNN + transfer learning)</a:t>
            </a:r>
            <a:endParaRPr lang="en-US" sz="900" dirty="0"/>
          </a:p>
        </p:txBody>
      </p:sp>
      <p:sp>
        <p:nvSpPr>
          <p:cNvPr id="7" name="Shape 5"/>
          <p:cNvSpPr/>
          <p:nvPr/>
        </p:nvSpPr>
        <p:spPr>
          <a:xfrm>
            <a:off x="640080" y="1920240"/>
            <a:ext cx="3611880" cy="3017520"/>
          </a:xfrm>
          <a:prstGeom prst="rect">
            <a:avLst/>
          </a:prstGeom>
          <a:solidFill>
            <a:srgbClr val="F1F5F9"/>
          </a:solidFill>
          <a:ln w="9525">
            <a:solidFill>
              <a:srgbClr val="E2E8F0"/>
            </a:solidFill>
            <a:prstDash val="solid"/>
          </a:ln>
        </p:spPr>
      </p:sp>
      <p:sp>
        <p:nvSpPr>
          <p:cNvPr id="8" name="Shape 6"/>
          <p:cNvSpPr/>
          <p:nvPr/>
        </p:nvSpPr>
        <p:spPr>
          <a:xfrm>
            <a:off x="640080" y="1920240"/>
            <a:ext cx="3611880" cy="73152"/>
          </a:xfrm>
          <a:prstGeom prst="rect">
            <a:avLst/>
          </a:prstGeom>
          <a:solidFill>
            <a:srgbClr val="64748B"/>
          </a:solidFill>
          <a:ln w="12700">
            <a:solidFill>
              <a:srgbClr val="64748B"/>
            </a:solidFill>
            <a:prstDash val="solid"/>
          </a:ln>
        </p:spPr>
      </p:sp>
      <p:sp>
        <p:nvSpPr>
          <p:cNvPr id="9" name="Text 7"/>
          <p:cNvSpPr/>
          <p:nvPr/>
        </p:nvSpPr>
        <p:spPr>
          <a:xfrm>
            <a:off x="868680" y="2194560"/>
            <a:ext cx="3154680" cy="320040"/>
          </a:xfrm>
          <a:prstGeom prst="rect">
            <a:avLst/>
          </a:prstGeom>
          <a:noFill/>
          <a:ln/>
        </p:spPr>
        <p:txBody>
          <a:bodyPr wrap="square" rtlCol="0" anchor="ctr"/>
          <a:lstStyle/>
          <a:p>
            <a:pPr indent="0" marL="0">
              <a:buNone/>
            </a:pPr>
            <a:r>
              <a:rPr lang="en-US" sz="1100" b="1" spc="300" kern="0" dirty="0">
                <a:solidFill>
                  <a:srgbClr val="64748B"/>
                </a:solidFill>
                <a:latin typeface="Calibri" pitchFamily="34" charset="0"/>
                <a:ea typeface="Calibri" pitchFamily="34" charset="-122"/>
                <a:cs typeface="Calibri" pitchFamily="34" charset="-120"/>
              </a:rPr>
              <a:t>Sin mitigación</a:t>
            </a:r>
            <a:endParaRPr lang="en-US" sz="1100" dirty="0"/>
          </a:p>
        </p:txBody>
      </p:sp>
      <p:sp>
        <p:nvSpPr>
          <p:cNvPr id="10" name="Text 8"/>
          <p:cNvSpPr/>
          <p:nvPr/>
        </p:nvSpPr>
        <p:spPr>
          <a:xfrm>
            <a:off x="868680" y="2560320"/>
            <a:ext cx="3154680" cy="50292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Entropía cruzada simple</a:t>
            </a:r>
            <a:endParaRPr lang="en-US" sz="1700" dirty="0"/>
          </a:p>
        </p:txBody>
      </p:sp>
      <p:sp>
        <p:nvSpPr>
          <p:cNvPr id="11" name="Text 9"/>
          <p:cNvSpPr/>
          <p:nvPr/>
        </p:nvSpPr>
        <p:spPr>
          <a:xfrm>
            <a:off x="868680" y="3154680"/>
            <a:ext cx="3154680" cy="169164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Línea base sin mitigación. Sirve para medir el efecto real de las otras estrategias.</a:t>
            </a:r>
            <a:endParaRPr lang="en-US" sz="1300" dirty="0"/>
          </a:p>
        </p:txBody>
      </p:sp>
      <p:sp>
        <p:nvSpPr>
          <p:cNvPr id="12" name="Shape 10"/>
          <p:cNvSpPr/>
          <p:nvPr/>
        </p:nvSpPr>
        <p:spPr>
          <a:xfrm>
            <a:off x="4434840" y="1920240"/>
            <a:ext cx="3611880" cy="3017520"/>
          </a:xfrm>
          <a:prstGeom prst="rect">
            <a:avLst/>
          </a:prstGeom>
          <a:solidFill>
            <a:srgbClr val="F1F5F9"/>
          </a:solidFill>
          <a:ln w="9525">
            <a:solidFill>
              <a:srgbClr val="E2E8F0"/>
            </a:solidFill>
            <a:prstDash val="solid"/>
          </a:ln>
        </p:spPr>
      </p:sp>
      <p:sp>
        <p:nvSpPr>
          <p:cNvPr id="13" name="Shape 11"/>
          <p:cNvSpPr/>
          <p:nvPr/>
        </p:nvSpPr>
        <p:spPr>
          <a:xfrm>
            <a:off x="4434840" y="1920240"/>
            <a:ext cx="3611880" cy="73152"/>
          </a:xfrm>
          <a:prstGeom prst="rect">
            <a:avLst/>
          </a:prstGeom>
          <a:solidFill>
            <a:srgbClr val="F59E0B"/>
          </a:solidFill>
          <a:ln w="12700">
            <a:solidFill>
              <a:srgbClr val="F59E0B"/>
            </a:solidFill>
            <a:prstDash val="solid"/>
          </a:ln>
        </p:spPr>
      </p:sp>
      <p:sp>
        <p:nvSpPr>
          <p:cNvPr id="14" name="Text 12"/>
          <p:cNvSpPr/>
          <p:nvPr/>
        </p:nvSpPr>
        <p:spPr>
          <a:xfrm>
            <a:off x="4663440" y="2194560"/>
            <a:ext cx="3154680" cy="32004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Reponderación</a:t>
            </a:r>
            <a:endParaRPr lang="en-US" sz="1100" dirty="0"/>
          </a:p>
        </p:txBody>
      </p:sp>
      <p:sp>
        <p:nvSpPr>
          <p:cNvPr id="15" name="Text 13"/>
          <p:cNvSpPr/>
          <p:nvPr/>
        </p:nvSpPr>
        <p:spPr>
          <a:xfrm>
            <a:off x="4663440" y="2560320"/>
            <a:ext cx="3154680" cy="50292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Entropía cruzada ponderada</a:t>
            </a:r>
            <a:endParaRPr lang="en-US" sz="1700" dirty="0"/>
          </a:p>
        </p:txBody>
      </p:sp>
      <p:sp>
        <p:nvSpPr>
          <p:cNvPr id="16" name="Text 14"/>
          <p:cNvSpPr/>
          <p:nvPr/>
        </p:nvSpPr>
        <p:spPr>
          <a:xfrm>
            <a:off x="4663440" y="3154680"/>
            <a:ext cx="3154680" cy="169164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Peso por clase ∝ 1 / frecuencia. Cada error de clase minoritaria pesa más.</a:t>
            </a:r>
            <a:endParaRPr lang="en-US" sz="1300" dirty="0"/>
          </a:p>
        </p:txBody>
      </p:sp>
      <p:sp>
        <p:nvSpPr>
          <p:cNvPr id="17" name="Shape 15"/>
          <p:cNvSpPr/>
          <p:nvPr/>
        </p:nvSpPr>
        <p:spPr>
          <a:xfrm>
            <a:off x="8229600" y="1920240"/>
            <a:ext cx="3611880" cy="3017520"/>
          </a:xfrm>
          <a:prstGeom prst="rect">
            <a:avLst/>
          </a:prstGeom>
          <a:solidFill>
            <a:srgbClr val="F1F5F9"/>
          </a:solidFill>
          <a:ln w="9525">
            <a:solidFill>
              <a:srgbClr val="E2E8F0"/>
            </a:solidFill>
            <a:prstDash val="solid"/>
          </a:ln>
        </p:spPr>
      </p:sp>
      <p:sp>
        <p:nvSpPr>
          <p:cNvPr id="18" name="Shape 16"/>
          <p:cNvSpPr/>
          <p:nvPr/>
        </p:nvSpPr>
        <p:spPr>
          <a:xfrm>
            <a:off x="8229600" y="1920240"/>
            <a:ext cx="3611880" cy="73152"/>
          </a:xfrm>
          <a:prstGeom prst="rect">
            <a:avLst/>
          </a:prstGeom>
          <a:solidFill>
            <a:srgbClr val="B91C1C"/>
          </a:solidFill>
          <a:ln w="12700">
            <a:solidFill>
              <a:srgbClr val="B91C1C"/>
            </a:solidFill>
            <a:prstDash val="solid"/>
          </a:ln>
        </p:spPr>
      </p:sp>
      <p:sp>
        <p:nvSpPr>
          <p:cNvPr id="19" name="Text 17"/>
          <p:cNvSpPr/>
          <p:nvPr/>
        </p:nvSpPr>
        <p:spPr>
          <a:xfrm>
            <a:off x="8458200" y="2194560"/>
            <a:ext cx="3154680" cy="320040"/>
          </a:xfrm>
          <a:prstGeom prst="rect">
            <a:avLst/>
          </a:prstGeom>
          <a:noFill/>
          <a:ln/>
        </p:spPr>
        <p:txBody>
          <a:bodyPr wrap="square" rtlCol="0" anchor="ctr"/>
          <a:lstStyle/>
          <a:p>
            <a:pPr indent="0" marL="0">
              <a:buNone/>
            </a:pPr>
            <a:r>
              <a:rPr lang="en-US" sz="1100" b="1" spc="300" kern="0" dirty="0">
                <a:solidFill>
                  <a:srgbClr val="B91C1C"/>
                </a:solidFill>
                <a:latin typeface="Calibri" pitchFamily="34" charset="0"/>
                <a:ea typeface="Calibri" pitchFamily="34" charset="-122"/>
                <a:cs typeface="Calibri" pitchFamily="34" charset="-120"/>
              </a:rPr>
              <a:t>Focal</a:t>
            </a:r>
            <a:endParaRPr lang="en-US" sz="1100" dirty="0"/>
          </a:p>
        </p:txBody>
      </p:sp>
      <p:sp>
        <p:nvSpPr>
          <p:cNvPr id="20" name="Text 18"/>
          <p:cNvSpPr/>
          <p:nvPr/>
        </p:nvSpPr>
        <p:spPr>
          <a:xfrm>
            <a:off x="8458200" y="2560320"/>
            <a:ext cx="3154680" cy="50292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Pérdida focal (γ=2)</a:t>
            </a:r>
            <a:endParaRPr lang="en-US" sz="1700" dirty="0"/>
          </a:p>
        </p:txBody>
      </p:sp>
      <p:sp>
        <p:nvSpPr>
          <p:cNvPr id="21" name="Text 19"/>
          <p:cNvSpPr/>
          <p:nvPr/>
        </p:nvSpPr>
        <p:spPr>
          <a:xfrm>
            <a:off x="8458200" y="3154680"/>
            <a:ext cx="3154680" cy="169164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Reescala CE por (1−pₜ)ᵞ. Enfoca el aprendizaje en ejemplos difíciles, con α por clase.</a:t>
            </a:r>
            <a:endParaRPr lang="en-US" sz="1300" dirty="0"/>
          </a:p>
        </p:txBody>
      </p:sp>
      <p:sp>
        <p:nvSpPr>
          <p:cNvPr id="22" name="Shape 20"/>
          <p:cNvSpPr/>
          <p:nvPr/>
        </p:nvSpPr>
        <p:spPr>
          <a:xfrm>
            <a:off x="640080" y="5166360"/>
            <a:ext cx="10881360" cy="1005840"/>
          </a:xfrm>
          <a:prstGeom prst="rect">
            <a:avLst/>
          </a:prstGeom>
          <a:solidFill>
            <a:srgbClr val="0F172A"/>
          </a:solidFill>
          <a:ln w="9525">
            <a:solidFill>
              <a:srgbClr val="0F172A"/>
            </a:solidFill>
            <a:prstDash val="solid"/>
          </a:ln>
        </p:spPr>
      </p:sp>
      <p:sp>
        <p:nvSpPr>
          <p:cNvPr id="23" name="Text 21"/>
          <p:cNvSpPr/>
          <p:nvPr/>
        </p:nvSpPr>
        <p:spPr>
          <a:xfrm>
            <a:off x="868680" y="5257800"/>
            <a:ext cx="2194560" cy="27432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PÉRDIDA FOCAL</a:t>
            </a:r>
            <a:endParaRPr lang="en-US" sz="1100" dirty="0"/>
          </a:p>
        </p:txBody>
      </p:sp>
      <p:sp>
        <p:nvSpPr>
          <p:cNvPr id="24" name="Text 22"/>
          <p:cNvSpPr/>
          <p:nvPr/>
        </p:nvSpPr>
        <p:spPr>
          <a:xfrm>
            <a:off x="868680" y="5532120"/>
            <a:ext cx="10332720" cy="502920"/>
          </a:xfrm>
          <a:prstGeom prst="rect">
            <a:avLst/>
          </a:prstGeom>
          <a:noFill/>
          <a:ln/>
        </p:spPr>
        <p:txBody>
          <a:bodyPr wrap="square" rtlCol="0" anchor="t"/>
          <a:lstStyle/>
          <a:p>
            <a:pPr indent="0" marL="0">
              <a:buNone/>
            </a:pPr>
            <a:r>
              <a:rPr lang="en-US" sz="1600" i="1" dirty="0">
                <a:solidFill>
                  <a:srgbClr val="FFFFFF"/>
                </a:solidFill>
                <a:latin typeface="Calibri" pitchFamily="34" charset="0"/>
                <a:ea typeface="Calibri" pitchFamily="34" charset="-122"/>
                <a:cs typeface="Calibri" pitchFamily="34" charset="-120"/>
              </a:rPr>
              <a:t>FL(pₜ) = − αₜ · (1 − pₜ)ᵞ · log(pₜ)        — con γ = 2 y αₜ = peso de clase 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1C1C"/>
          </a:solidFill>
          <a:ln w="12700">
            <a:solidFill>
              <a:srgbClr val="B91C1C"/>
            </a:solidFill>
            <a:prstDash val="solid"/>
          </a:ln>
        </p:spPr>
      </p:sp>
      <p:sp>
        <p:nvSpPr>
          <p:cNvPr id="3" name="Text 1"/>
          <p:cNvSpPr/>
          <p:nvPr/>
        </p:nvSpPr>
        <p:spPr>
          <a:xfrm>
            <a:off x="411480" y="274320"/>
            <a:ext cx="822960" cy="32004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7/14</a:t>
            </a:r>
            <a:endParaRPr lang="en-US" sz="1100" dirty="0"/>
          </a:p>
        </p:txBody>
      </p:sp>
      <p:sp>
        <p:nvSpPr>
          <p:cNvPr id="4" name="Text 2"/>
          <p:cNvSpPr/>
          <p:nvPr/>
        </p:nvSpPr>
        <p:spPr>
          <a:xfrm>
            <a:off x="411480" y="502920"/>
            <a:ext cx="1136873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Resultados principales</a:t>
            </a:r>
            <a:endParaRPr lang="en-US" sz="28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Conjunto de prueba oficial (325 imágenes, positiva = cracked)</a:t>
            </a:r>
            <a:endParaRPr lang="en-US" sz="1400" dirty="0"/>
          </a:p>
        </p:txBody>
      </p:sp>
      <p:sp>
        <p:nvSpPr>
          <p:cNvPr id="6" name="Text 4"/>
          <p:cNvSpPr/>
          <p:nvPr/>
        </p:nvSpPr>
        <p:spPr>
          <a:xfrm>
            <a:off x="411480" y="6473952"/>
            <a:ext cx="11368735"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Grupo Nº 1 - MIA UNI 2026-1 · Clasificación de llantas dañadas (CNN + transfer learning)</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6492240" cy="914400"/>
        </p:xfrm>
        <a:graphic>
          <a:graphicData uri="http://schemas.openxmlformats.org/drawingml/2006/table">
            <a:tbl>
              <a:tblPr/>
              <a:tblGrid>
                <a:gridCol w="1417320"/>
                <a:gridCol w="822960"/>
                <a:gridCol w="777240"/>
                <a:gridCol w="777240"/>
                <a:gridCol w="777240"/>
                <a:gridCol w="777240"/>
                <a:gridCol w="114300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Modelo</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 entr.</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Exact.</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Prec.</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AUC-ROC</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75488">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CNN propia</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0.71 M</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0.649</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0.881</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0.529</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0.661</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0.764</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75488">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ResNet-50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200" dirty="0">
                          <a:solidFill>
                            <a:srgbClr val="0F172A"/>
                          </a:solidFill>
                          <a:latin typeface="Calibri" pitchFamily="34" charset="0"/>
                          <a:ea typeface="Calibri" pitchFamily="34" charset="-122"/>
                          <a:cs typeface="Calibri" pitchFamily="34" charset="-120"/>
                        </a:rPr>
                        <a:t>14.97 M</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200" b="1" dirty="0">
                          <a:solidFill>
                            <a:srgbClr val="B91C1C"/>
                          </a:solidFill>
                          <a:latin typeface="Calibri" pitchFamily="34" charset="0"/>
                          <a:ea typeface="Calibri" pitchFamily="34" charset="-122"/>
                          <a:cs typeface="Calibri" pitchFamily="34" charset="-120"/>
                        </a:rPr>
                        <a:t>0.782</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200" b="1" dirty="0">
                          <a:solidFill>
                            <a:srgbClr val="B91C1C"/>
                          </a:solidFill>
                          <a:latin typeface="Calibri" pitchFamily="34" charset="0"/>
                          <a:ea typeface="Calibri" pitchFamily="34" charset="-122"/>
                          <a:cs typeface="Calibri" pitchFamily="34" charset="-120"/>
                        </a:rPr>
                        <a:t>0.960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200" b="1" dirty="0">
                          <a:solidFill>
                            <a:srgbClr val="B91C1C"/>
                          </a:solidFill>
                          <a:latin typeface="Calibri" pitchFamily="34" charset="0"/>
                          <a:ea typeface="Calibri" pitchFamily="34" charset="-122"/>
                          <a:cs typeface="Calibri" pitchFamily="34" charset="-120"/>
                        </a:rPr>
                        <a:t>0.690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200" b="1" dirty="0">
                          <a:solidFill>
                            <a:srgbClr val="B91C1C"/>
                          </a:solidFill>
                          <a:latin typeface="Calibri" pitchFamily="34" charset="0"/>
                          <a:ea typeface="Calibri" pitchFamily="34" charset="-122"/>
                          <a:cs typeface="Calibri" pitchFamily="34" charset="-120"/>
                        </a:rPr>
                        <a:t>0.803</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200" b="1" dirty="0">
                          <a:solidFill>
                            <a:srgbClr val="B91C1C"/>
                          </a:solidFill>
                          <a:latin typeface="Calibri" pitchFamily="34" charset="0"/>
                          <a:ea typeface="Calibri" pitchFamily="34" charset="-122"/>
                          <a:cs typeface="Calibri" pitchFamily="34" charset="-120"/>
                        </a:rPr>
                        <a:t>0.946</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r>
            </a:tbl>
          </a:graphicData>
        </a:graphic>
      </p:graphicFrame>
      <p:pic>
        <p:nvPicPr>
          <p:cNvPr id="8" name="Image 0" descr="/home/claude/tire-damage-cnn/outputs/figures/roc_comparativa.png">    </p:cNvPr>
          <p:cNvPicPr>
            <a:picLocks noChangeAspect="1"/>
          </p:cNvPicPr>
          <p:nvPr/>
        </p:nvPicPr>
        <p:blipFill>
          <a:blip r:embed="rId1"/>
          <a:srcRect l="0" r="0" t="0" b="0"/>
          <a:stretch/>
        </p:blipFill>
        <p:spPr>
          <a:xfrm>
            <a:off x="7315200" y="1828800"/>
            <a:ext cx="4206240" cy="3520440"/>
          </a:xfrm>
          <a:prstGeom prst="rect">
            <a:avLst/>
          </a:prstGeom>
        </p:spPr>
      </p:pic>
      <p:sp>
        <p:nvSpPr>
          <p:cNvPr id="9" name="Shape 5"/>
          <p:cNvSpPr/>
          <p:nvPr/>
        </p:nvSpPr>
        <p:spPr>
          <a:xfrm>
            <a:off x="640080" y="3657600"/>
            <a:ext cx="6492240" cy="2514600"/>
          </a:xfrm>
          <a:prstGeom prst="rect">
            <a:avLst/>
          </a:prstGeom>
          <a:solidFill>
            <a:srgbClr val="F1F5F9"/>
          </a:solidFill>
          <a:ln w="9525">
            <a:solidFill>
              <a:srgbClr val="E2E8F0"/>
            </a:solidFill>
            <a:prstDash val="solid"/>
          </a:ln>
        </p:spPr>
      </p:sp>
      <p:sp>
        <p:nvSpPr>
          <p:cNvPr id="10" name="Text 6"/>
          <p:cNvSpPr/>
          <p:nvPr/>
        </p:nvSpPr>
        <p:spPr>
          <a:xfrm>
            <a:off x="868680" y="3749040"/>
            <a:ext cx="6035040" cy="320040"/>
          </a:xfrm>
          <a:prstGeom prst="rect">
            <a:avLst/>
          </a:prstGeom>
          <a:noFill/>
          <a:ln/>
        </p:spPr>
        <p:txBody>
          <a:bodyPr wrap="square" rtlCol="0" anchor="ctr"/>
          <a:lstStyle/>
          <a:p>
            <a:pPr indent="0" marL="0">
              <a:buNone/>
            </a:pPr>
            <a:r>
              <a:rPr lang="en-US" sz="1100" b="1" spc="300" kern="0" dirty="0">
                <a:solidFill>
                  <a:srgbClr val="B91C1C"/>
                </a:solidFill>
                <a:latin typeface="Calibri" pitchFamily="34" charset="0"/>
                <a:ea typeface="Calibri" pitchFamily="34" charset="-122"/>
                <a:cs typeface="Calibri" pitchFamily="34" charset="-120"/>
              </a:rPr>
              <a:t>LECTURA RÁPIDA</a:t>
            </a:r>
            <a:endParaRPr lang="en-US" sz="1100" dirty="0"/>
          </a:p>
        </p:txBody>
      </p:sp>
      <p:sp>
        <p:nvSpPr>
          <p:cNvPr id="11" name="Text 7"/>
          <p:cNvSpPr/>
          <p:nvPr/>
        </p:nvSpPr>
        <p:spPr>
          <a:xfrm>
            <a:off x="868680" y="4069080"/>
            <a:ext cx="6035040" cy="2011680"/>
          </a:xfrm>
          <a:prstGeom prst="rect">
            <a:avLst/>
          </a:prstGeom>
          <a:noFill/>
          <a:ln/>
        </p:spPr>
        <p:txBody>
          <a:bodyPr wrap="square" rtlCol="0" anchor="t"/>
          <a:lstStyle/>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ResNet-50 supera a la CNN propia en TODAS las métricas, con +0.18 en AUC y +0.14 en F1.</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Ambos modelos tienen ALTA PRECISIÓN pero RECALL MODERADO: cuando predicen 'dañada' aciertan, pero dejan pasar casos.</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ResNet-50: AUC 0.946 (orden por probabilidad excelente) pero Acc 0.782 → el umbral 0.5 no es óptimo.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1C1C"/>
          </a:solidFill>
          <a:ln w="12700">
            <a:solidFill>
              <a:srgbClr val="B91C1C"/>
            </a:solidFill>
            <a:prstDash val="solid"/>
          </a:ln>
        </p:spPr>
      </p:sp>
      <p:sp>
        <p:nvSpPr>
          <p:cNvPr id="3" name="Text 1"/>
          <p:cNvSpPr/>
          <p:nvPr/>
        </p:nvSpPr>
        <p:spPr>
          <a:xfrm>
            <a:off x="411480" y="274320"/>
            <a:ext cx="822960" cy="32004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8/14</a:t>
            </a:r>
            <a:endParaRPr lang="en-US" sz="1100" dirty="0"/>
          </a:p>
        </p:txBody>
      </p:sp>
      <p:sp>
        <p:nvSpPr>
          <p:cNvPr id="4" name="Text 2"/>
          <p:cNvSpPr/>
          <p:nvPr/>
        </p:nvSpPr>
        <p:spPr>
          <a:xfrm>
            <a:off x="411480" y="502920"/>
            <a:ext cx="1136873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Matrices de confusión</a:t>
            </a:r>
            <a:endParaRPr lang="en-US" sz="28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Dónde se equivocan los modelos</a:t>
            </a:r>
            <a:endParaRPr lang="en-US" sz="1400" dirty="0"/>
          </a:p>
        </p:txBody>
      </p:sp>
      <p:sp>
        <p:nvSpPr>
          <p:cNvPr id="6" name="Text 4"/>
          <p:cNvSpPr/>
          <p:nvPr/>
        </p:nvSpPr>
        <p:spPr>
          <a:xfrm>
            <a:off x="411480" y="6473952"/>
            <a:ext cx="11368735"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Grupo Nº 1 - MIA UNI 2026-1 · Clasificación de llantas dañadas (CNN + transfer learning)</a:t>
            </a:r>
            <a:endParaRPr lang="en-US" sz="900" dirty="0"/>
          </a:p>
        </p:txBody>
      </p:sp>
      <p:pic>
        <p:nvPicPr>
          <p:cNvPr id="7" name="Image 0" descr="/home/claude/tire-damage-cnn/outputs/figures/cm_custom_baseline.png">    </p:cNvPr>
          <p:cNvPicPr>
            <a:picLocks noChangeAspect="1"/>
          </p:cNvPicPr>
          <p:nvPr/>
        </p:nvPicPr>
        <p:blipFill>
          <a:blip r:embed="rId1"/>
          <a:srcRect l="0" r="0" t="0" b="0"/>
          <a:stretch/>
        </p:blipFill>
        <p:spPr>
          <a:xfrm>
            <a:off x="822960" y="1828800"/>
            <a:ext cx="4297680" cy="3657600"/>
          </a:xfrm>
          <a:prstGeom prst="rect">
            <a:avLst/>
          </a:prstGeom>
        </p:spPr>
      </p:pic>
      <p:pic>
        <p:nvPicPr>
          <p:cNvPr id="8" name="Image 1" descr="/home/claude/tire-damage-cnn/outputs/figures/cm_resnet50_transfer.png">    </p:cNvPr>
          <p:cNvPicPr>
            <a:picLocks noChangeAspect="1"/>
          </p:cNvPicPr>
          <p:nvPr/>
        </p:nvPicPr>
        <p:blipFill>
          <a:blip r:embed="rId2"/>
          <a:srcRect l="0" r="0" t="0" b="0"/>
          <a:stretch/>
        </p:blipFill>
        <p:spPr>
          <a:xfrm>
            <a:off x="5486400" y="1828800"/>
            <a:ext cx="4297680" cy="3657600"/>
          </a:xfrm>
          <a:prstGeom prst="rect">
            <a:avLst/>
          </a:prstGeom>
        </p:spPr>
      </p:pic>
      <p:sp>
        <p:nvSpPr>
          <p:cNvPr id="9" name="Text 5"/>
          <p:cNvSpPr/>
          <p:nvPr/>
        </p:nvSpPr>
        <p:spPr>
          <a:xfrm>
            <a:off x="822960" y="5440680"/>
            <a:ext cx="4297680" cy="320040"/>
          </a:xfrm>
          <a:prstGeom prst="rect">
            <a:avLst/>
          </a:prstGeom>
          <a:noFill/>
          <a:ln/>
        </p:spPr>
        <p:txBody>
          <a:bodyPr wrap="square" rtlCol="0" anchor="ctr"/>
          <a:lstStyle/>
          <a:p>
            <a:pPr algn="ctr" indent="0" marL="0">
              <a:buNone/>
            </a:pPr>
            <a:r>
              <a:rPr lang="en-US" sz="1300" b="1" dirty="0">
                <a:solidFill>
                  <a:srgbClr val="64748B"/>
                </a:solidFill>
                <a:latin typeface="Calibri" pitchFamily="34" charset="0"/>
                <a:ea typeface="Calibri" pitchFamily="34" charset="-122"/>
                <a:cs typeface="Calibri" pitchFamily="34" charset="-120"/>
              </a:rPr>
              <a:t>CNN propia (desde cero)</a:t>
            </a:r>
            <a:endParaRPr lang="en-US" sz="1300" dirty="0"/>
          </a:p>
        </p:txBody>
      </p:sp>
      <p:sp>
        <p:nvSpPr>
          <p:cNvPr id="10" name="Text 6"/>
          <p:cNvSpPr/>
          <p:nvPr/>
        </p:nvSpPr>
        <p:spPr>
          <a:xfrm>
            <a:off x="5486400" y="5440680"/>
            <a:ext cx="4297680" cy="320040"/>
          </a:xfrm>
          <a:prstGeom prst="rect">
            <a:avLst/>
          </a:prstGeom>
          <a:noFill/>
          <a:ln/>
        </p:spPr>
        <p:txBody>
          <a:bodyPr wrap="square" rtlCol="0" anchor="ctr"/>
          <a:lstStyle/>
          <a:p>
            <a:pPr algn="ctr" indent="0" marL="0">
              <a:buNone/>
            </a:pPr>
            <a:r>
              <a:rPr lang="en-US" sz="1300" b="1" dirty="0">
                <a:solidFill>
                  <a:srgbClr val="B91C1C"/>
                </a:solidFill>
                <a:latin typeface="Calibri" pitchFamily="34" charset="0"/>
                <a:ea typeface="Calibri" pitchFamily="34" charset="-122"/>
                <a:cs typeface="Calibri" pitchFamily="34" charset="-120"/>
              </a:rPr>
              <a:t>ResNet-50 (transfer learning)</a:t>
            </a:r>
            <a:endParaRPr lang="en-US" sz="1300" dirty="0"/>
          </a:p>
        </p:txBody>
      </p:sp>
      <p:sp>
        <p:nvSpPr>
          <p:cNvPr id="11" name="Shape 7"/>
          <p:cNvSpPr/>
          <p:nvPr/>
        </p:nvSpPr>
        <p:spPr>
          <a:xfrm>
            <a:off x="10058400" y="1828800"/>
            <a:ext cx="1508760" cy="3657600"/>
          </a:xfrm>
          <a:prstGeom prst="rect">
            <a:avLst/>
          </a:prstGeom>
          <a:solidFill>
            <a:srgbClr val="0F172A"/>
          </a:solidFill>
          <a:ln w="9525">
            <a:solidFill>
              <a:srgbClr val="0F172A"/>
            </a:solidFill>
            <a:prstDash val="solid"/>
          </a:ln>
        </p:spPr>
      </p:sp>
      <p:sp>
        <p:nvSpPr>
          <p:cNvPr id="12" name="Text 8"/>
          <p:cNvSpPr/>
          <p:nvPr/>
        </p:nvSpPr>
        <p:spPr>
          <a:xfrm>
            <a:off x="10149840" y="1920240"/>
            <a:ext cx="1371600" cy="457200"/>
          </a:xfrm>
          <a:prstGeom prst="rect">
            <a:avLst/>
          </a:prstGeom>
          <a:noFill/>
          <a:ln/>
        </p:spPr>
        <p:txBody>
          <a:bodyPr wrap="square" rtlCol="0" anchor="ctr"/>
          <a:lstStyle/>
          <a:p>
            <a:pPr indent="0" marL="0">
              <a:buNone/>
            </a:pPr>
            <a:r>
              <a:rPr lang="en-US" sz="1000" b="1" spc="100" kern="0" dirty="0">
                <a:solidFill>
                  <a:srgbClr val="F59E0B"/>
                </a:solidFill>
                <a:latin typeface="Calibri" pitchFamily="34" charset="0"/>
                <a:ea typeface="Calibri" pitchFamily="34" charset="-122"/>
                <a:cs typeface="Calibri" pitchFamily="34" charset="-120"/>
              </a:rPr>
              <a:t>ResNet-50 vs CNN propia</a:t>
            </a:r>
            <a:endParaRPr lang="en-US" sz="1000" dirty="0"/>
          </a:p>
        </p:txBody>
      </p:sp>
      <p:sp>
        <p:nvSpPr>
          <p:cNvPr id="13" name="Text 9"/>
          <p:cNvSpPr/>
          <p:nvPr/>
        </p:nvSpPr>
        <p:spPr>
          <a:xfrm>
            <a:off x="10149840" y="2331720"/>
            <a:ext cx="1371600" cy="3108960"/>
          </a:xfrm>
          <a:prstGeom prst="rect">
            <a:avLst/>
          </a:prstGeom>
          <a:noFill/>
          <a:ln/>
        </p:spPr>
        <p:txBody>
          <a:bodyPr wrap="square" rtlCol="0" anchor="ctr"/>
          <a:lstStyle/>
          <a:p>
            <a:pPr indent="0" marL="0">
              <a:buNone/>
            </a:pPr>
            <a:r>
              <a:rPr lang="en-US" sz="1100" b="1" dirty="0">
                <a:solidFill>
                  <a:srgbClr val="FCA5A5"/>
                </a:solidFill>
                <a:latin typeface="Calibri" pitchFamily="34" charset="0"/>
                <a:ea typeface="Calibri" pitchFamily="34" charset="-122"/>
                <a:cs typeface="Calibri" pitchFamily="34" charset="-120"/>
              </a:rPr>
              <a:t>Falsos negativos</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99 → 65</a:t>
            </a:r>
            <a:endParaRPr lang="en-US" sz="1100" dirty="0"/>
          </a:p>
          <a:p>
            <a:pPr indent="0" marL="0">
              <a:buNone/>
            </a:pPr>
            <a:r>
              <a:rPr lang="en-US" sz="1100" i="1" dirty="0">
                <a:solidFill>
                  <a:srgbClr val="94A3B8"/>
                </a:solidFill>
                <a:latin typeface="Calibri" pitchFamily="34" charset="0"/>
                <a:ea typeface="Calibri" pitchFamily="34" charset="-122"/>
                <a:cs typeface="Calibri" pitchFamily="34" charset="-120"/>
              </a:rPr>
              <a:t>(↓ 34%)</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FCA5A5"/>
                </a:solidFill>
                <a:latin typeface="Calibri" pitchFamily="34" charset="0"/>
                <a:ea typeface="Calibri" pitchFamily="34" charset="-122"/>
                <a:cs typeface="Calibri" pitchFamily="34" charset="-120"/>
              </a:rPr>
              <a:t>Falsos positivos</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15 → 6</a:t>
            </a:r>
            <a:endParaRPr lang="en-US" sz="1100" dirty="0"/>
          </a:p>
          <a:p>
            <a:pPr indent="0" marL="0">
              <a:buNone/>
            </a:pPr>
            <a:r>
              <a:rPr lang="en-US" sz="1100" i="1" dirty="0">
                <a:solidFill>
                  <a:srgbClr val="94A3B8"/>
                </a:solidFill>
                <a:latin typeface="Calibri" pitchFamily="34" charset="0"/>
                <a:ea typeface="Calibri" pitchFamily="34" charset="-122"/>
                <a:cs typeface="Calibri" pitchFamily="34" charset="-120"/>
              </a:rPr>
              <a:t>(↓ 60%)</a:t>
            </a:r>
            <a:endParaRPr lang="en-US" sz="1100" dirty="0"/>
          </a:p>
        </p:txBody>
      </p:sp>
      <p:sp>
        <p:nvSpPr>
          <p:cNvPr id="14" name="Shape 10"/>
          <p:cNvSpPr/>
          <p:nvPr/>
        </p:nvSpPr>
        <p:spPr>
          <a:xfrm>
            <a:off x="640080" y="5806440"/>
            <a:ext cx="10881360" cy="502920"/>
          </a:xfrm>
          <a:prstGeom prst="rect">
            <a:avLst/>
          </a:prstGeom>
          <a:solidFill>
            <a:srgbClr val="FEE2E2"/>
          </a:solidFill>
          <a:ln w="9525">
            <a:solidFill>
              <a:srgbClr val="B91C1C"/>
            </a:solidFill>
            <a:prstDash val="solid"/>
          </a:ln>
        </p:spPr>
      </p:sp>
      <p:sp>
        <p:nvSpPr>
          <p:cNvPr id="15" name="Text 11"/>
          <p:cNvSpPr/>
          <p:nvPr/>
        </p:nvSpPr>
        <p:spPr>
          <a:xfrm>
            <a:off x="868680" y="5852160"/>
            <a:ext cx="10424160" cy="411480"/>
          </a:xfrm>
          <a:prstGeom prst="rect">
            <a:avLst/>
          </a:prstGeom>
          <a:noFill/>
          <a:ln/>
        </p:spPr>
        <p:txBody>
          <a:bodyPr wrap="square" rtlCol="0" anchor="ctr"/>
          <a:lstStyle/>
          <a:p>
            <a:pPr indent="0" marL="0">
              <a:buNone/>
            </a:pPr>
            <a:r>
              <a:rPr lang="en-US" sz="1300" b="1" dirty="0">
                <a:solidFill>
                  <a:srgbClr val="B91C1C"/>
                </a:solidFill>
                <a:latin typeface="Calibri" pitchFamily="34" charset="0"/>
                <a:ea typeface="Calibri" pitchFamily="34" charset="-122"/>
                <a:cs typeface="Calibri" pitchFamily="34" charset="-120"/>
              </a:rPr>
              <a:t>Modo de fallo dominante en ambos modelos: FALSOS NEGATIVOS (llantas dañadas clasificadas como normales). Crítico para seguridad.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1C1C"/>
          </a:solidFill>
          <a:ln w="12700">
            <a:solidFill>
              <a:srgbClr val="B91C1C"/>
            </a:solidFill>
            <a:prstDash val="solid"/>
          </a:ln>
        </p:spPr>
      </p:sp>
      <p:sp>
        <p:nvSpPr>
          <p:cNvPr id="3" name="Text 1"/>
          <p:cNvSpPr/>
          <p:nvPr/>
        </p:nvSpPr>
        <p:spPr>
          <a:xfrm>
            <a:off x="411480" y="274320"/>
            <a:ext cx="822960" cy="32004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9/14</a:t>
            </a:r>
            <a:endParaRPr lang="en-US" sz="1100" dirty="0"/>
          </a:p>
        </p:txBody>
      </p:sp>
      <p:sp>
        <p:nvSpPr>
          <p:cNvPr id="4" name="Text 2"/>
          <p:cNvSpPr/>
          <p:nvPr/>
        </p:nvSpPr>
        <p:spPr>
          <a:xfrm>
            <a:off x="411480" y="502920"/>
            <a:ext cx="1136873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Estudio de ablación</a:t>
            </a:r>
            <a:endParaRPr lang="en-US" sz="28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Dos factores sobre la CNN propia</a:t>
            </a:r>
            <a:endParaRPr lang="en-US" sz="1400" dirty="0"/>
          </a:p>
        </p:txBody>
      </p:sp>
      <p:sp>
        <p:nvSpPr>
          <p:cNvPr id="6" name="Text 4"/>
          <p:cNvSpPr/>
          <p:nvPr/>
        </p:nvSpPr>
        <p:spPr>
          <a:xfrm>
            <a:off x="411480" y="6473952"/>
            <a:ext cx="11368735"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Grupo Nº 1 - MIA UNI 2026-1 · Clasificación de llantas dañadas (CNN + transfer learning)</a:t>
            </a:r>
            <a:endParaRPr lang="en-US" sz="900" dirty="0"/>
          </a:p>
        </p:txBody>
      </p:sp>
      <p:sp>
        <p:nvSpPr>
          <p:cNvPr id="7" name="Shape 5"/>
          <p:cNvSpPr/>
          <p:nvPr/>
        </p:nvSpPr>
        <p:spPr>
          <a:xfrm>
            <a:off x="640080" y="1874520"/>
            <a:ext cx="5394960" cy="4297680"/>
          </a:xfrm>
          <a:prstGeom prst="rect">
            <a:avLst/>
          </a:prstGeom>
          <a:solidFill>
            <a:srgbClr val="F1F5F9"/>
          </a:solidFill>
          <a:ln w="9525">
            <a:solidFill>
              <a:srgbClr val="E2E8F0"/>
            </a:solidFill>
            <a:prstDash val="solid"/>
          </a:ln>
        </p:spPr>
      </p:sp>
      <p:sp>
        <p:nvSpPr>
          <p:cNvPr id="8" name="Shape 6"/>
          <p:cNvSpPr/>
          <p:nvPr/>
        </p:nvSpPr>
        <p:spPr>
          <a:xfrm>
            <a:off x="640080" y="1874520"/>
            <a:ext cx="5394960" cy="502920"/>
          </a:xfrm>
          <a:prstGeom prst="rect">
            <a:avLst/>
          </a:prstGeom>
          <a:solidFill>
            <a:srgbClr val="1E293B"/>
          </a:solidFill>
          <a:ln w="12700">
            <a:solidFill>
              <a:srgbClr val="1E293B"/>
            </a:solidFill>
            <a:prstDash val="solid"/>
          </a:ln>
        </p:spPr>
      </p:sp>
      <p:sp>
        <p:nvSpPr>
          <p:cNvPr id="9" name="Text 7"/>
          <p:cNvSpPr/>
          <p:nvPr/>
        </p:nvSpPr>
        <p:spPr>
          <a:xfrm>
            <a:off x="777240" y="1920240"/>
            <a:ext cx="5120640" cy="41148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FACTOR 1 · Aumento de datos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68680" y="2606040"/>
          <a:ext cx="4937760" cy="914400"/>
        </p:xfrm>
        <a:graphic>
          <a:graphicData uri="http://schemas.openxmlformats.org/drawingml/2006/table">
            <a:tbl>
              <a:tblPr/>
              <a:tblGrid>
                <a:gridCol w="1828800"/>
                <a:gridCol w="1033272"/>
                <a:gridCol w="1033272"/>
                <a:gridCol w="1042416"/>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Config.</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4748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4748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4748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AUC</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4748B"/>
                    </a:solidFill>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Con aumento</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B91C1C"/>
                          </a:solidFill>
                          <a:latin typeface="Calibri" pitchFamily="34" charset="0"/>
                          <a:ea typeface="Calibri" pitchFamily="34" charset="-122"/>
                          <a:cs typeface="Calibri" pitchFamily="34" charset="-120"/>
                        </a:rPr>
                        <a:t>0.529</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B91C1C"/>
                          </a:solidFill>
                          <a:latin typeface="Calibri" pitchFamily="34" charset="0"/>
                          <a:ea typeface="Calibri" pitchFamily="34" charset="-122"/>
                          <a:cs typeface="Calibri" pitchFamily="34" charset="-120"/>
                        </a:rPr>
                        <a:t>0.661</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0.764</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Sin aumento</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0.500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0.642</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B91C1C"/>
                          </a:solidFill>
                          <a:latin typeface="Calibri" pitchFamily="34" charset="0"/>
                          <a:ea typeface="Calibri" pitchFamily="34" charset="-122"/>
                          <a:cs typeface="Calibri" pitchFamily="34" charset="-120"/>
                        </a:rPr>
                        <a:t>0.799</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1" name="Text 8"/>
          <p:cNvSpPr/>
          <p:nvPr/>
        </p:nvSpPr>
        <p:spPr>
          <a:xfrm>
            <a:off x="868680" y="4069080"/>
            <a:ext cx="4937760" cy="274320"/>
          </a:xfrm>
          <a:prstGeom prst="rect">
            <a:avLst/>
          </a:prstGeom>
          <a:noFill/>
          <a:ln/>
        </p:spPr>
        <p:txBody>
          <a:bodyPr wrap="square" rtlCol="0" anchor="ctr"/>
          <a:lstStyle/>
          <a:p>
            <a:pPr indent="0" marL="0">
              <a:buNone/>
            </a:pPr>
            <a:r>
              <a:rPr lang="en-US" sz="1100" b="1" spc="300" kern="0" dirty="0">
                <a:solidFill>
                  <a:srgbClr val="B91C1C"/>
                </a:solidFill>
                <a:latin typeface="Calibri" pitchFamily="34" charset="0"/>
                <a:ea typeface="Calibri" pitchFamily="34" charset="-122"/>
                <a:cs typeface="Calibri" pitchFamily="34" charset="-120"/>
              </a:rPr>
              <a:t>Conclusión</a:t>
            </a:r>
            <a:endParaRPr lang="en-US" sz="1100" dirty="0"/>
          </a:p>
        </p:txBody>
      </p:sp>
      <p:sp>
        <p:nvSpPr>
          <p:cNvPr id="12" name="Text 9"/>
          <p:cNvSpPr/>
          <p:nvPr/>
        </p:nvSpPr>
        <p:spPr>
          <a:xfrm>
            <a:off x="868680" y="4370832"/>
            <a:ext cx="4937760" cy="169164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Efecto moderado: el aumento mejora ligeramente F1 y recall, pero el AUC sin aumento es mayor. Con tan pocos datos y aumento puramente geométrico, la regularización aportada es limitada.</a:t>
            </a:r>
            <a:endParaRPr lang="en-US" sz="1300" dirty="0"/>
          </a:p>
        </p:txBody>
      </p:sp>
      <p:sp>
        <p:nvSpPr>
          <p:cNvPr id="13" name="Shape 10"/>
          <p:cNvSpPr/>
          <p:nvPr/>
        </p:nvSpPr>
        <p:spPr>
          <a:xfrm>
            <a:off x="6172200" y="1874520"/>
            <a:ext cx="5394960" cy="4297680"/>
          </a:xfrm>
          <a:prstGeom prst="rect">
            <a:avLst/>
          </a:prstGeom>
          <a:solidFill>
            <a:srgbClr val="F1F5F9"/>
          </a:solidFill>
          <a:ln w="9525">
            <a:solidFill>
              <a:srgbClr val="E2E8F0"/>
            </a:solidFill>
            <a:prstDash val="solid"/>
          </a:ln>
        </p:spPr>
      </p:sp>
      <p:sp>
        <p:nvSpPr>
          <p:cNvPr id="14" name="Shape 11"/>
          <p:cNvSpPr/>
          <p:nvPr/>
        </p:nvSpPr>
        <p:spPr>
          <a:xfrm>
            <a:off x="6172200" y="1874520"/>
            <a:ext cx="5394960" cy="502920"/>
          </a:xfrm>
          <a:prstGeom prst="rect">
            <a:avLst/>
          </a:prstGeom>
          <a:solidFill>
            <a:srgbClr val="B91C1C"/>
          </a:solidFill>
          <a:ln w="12700">
            <a:solidFill>
              <a:srgbClr val="B91C1C"/>
            </a:solidFill>
            <a:prstDash val="solid"/>
          </a:ln>
        </p:spPr>
      </p:sp>
      <p:sp>
        <p:nvSpPr>
          <p:cNvPr id="15" name="Text 12"/>
          <p:cNvSpPr/>
          <p:nvPr/>
        </p:nvSpPr>
        <p:spPr>
          <a:xfrm>
            <a:off x="6309360" y="1920240"/>
            <a:ext cx="5120640" cy="41148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FACTOR 2 · Función de pérdida</a:t>
            </a:r>
            <a:endParaRPr lang="en-US" sz="16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400800" y="2606040"/>
          <a:ext cx="4937760" cy="914400"/>
        </p:xfrm>
        <a:graphic>
          <a:graphicData uri="http://schemas.openxmlformats.org/drawingml/2006/table">
            <a:tbl>
              <a:tblPr/>
              <a:tblGrid>
                <a:gridCol w="1828800"/>
                <a:gridCol w="1033272"/>
                <a:gridCol w="1033272"/>
                <a:gridCol w="1042416"/>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Pérdida</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4748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4748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4748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AUC</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4748B"/>
                    </a:solidFill>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CE ponderada</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0.529</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0.661</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B91C1C"/>
                          </a:solidFill>
                          <a:latin typeface="Calibri" pitchFamily="34" charset="0"/>
                          <a:ea typeface="Calibri" pitchFamily="34" charset="-122"/>
                          <a:cs typeface="Calibri" pitchFamily="34" charset="-120"/>
                        </a:rPr>
                        <a:t>0.764</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CE simple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0.562</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0.670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0.760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Focal (γ=2)</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200" b="1" dirty="0">
                          <a:solidFill>
                            <a:srgbClr val="B91C1C"/>
                          </a:solidFill>
                          <a:latin typeface="Calibri" pitchFamily="34" charset="0"/>
                          <a:ea typeface="Calibri" pitchFamily="34" charset="-122"/>
                          <a:cs typeface="Calibri" pitchFamily="34" charset="-120"/>
                        </a:rPr>
                        <a:t>0.605</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200" b="1" dirty="0">
                          <a:solidFill>
                            <a:srgbClr val="B91C1C"/>
                          </a:solidFill>
                          <a:latin typeface="Calibri" pitchFamily="34" charset="0"/>
                          <a:ea typeface="Calibri" pitchFamily="34" charset="-122"/>
                          <a:cs typeface="Calibri" pitchFamily="34" charset="-120"/>
                        </a:rPr>
                        <a:t>0.683</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0.722</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r>
            </a:tbl>
          </a:graphicData>
        </a:graphic>
      </p:graphicFrame>
      <p:sp>
        <p:nvSpPr>
          <p:cNvPr id="17" name="Text 13"/>
          <p:cNvSpPr/>
          <p:nvPr/>
        </p:nvSpPr>
        <p:spPr>
          <a:xfrm>
            <a:off x="6400800" y="4572000"/>
            <a:ext cx="4937760" cy="274320"/>
          </a:xfrm>
          <a:prstGeom prst="rect">
            <a:avLst/>
          </a:prstGeom>
          <a:noFill/>
          <a:ln/>
        </p:spPr>
        <p:txBody>
          <a:bodyPr wrap="square" rtlCol="0" anchor="ctr"/>
          <a:lstStyle/>
          <a:p>
            <a:pPr indent="0" marL="0">
              <a:buNone/>
            </a:pPr>
            <a:r>
              <a:rPr lang="en-US" sz="1100" b="1" spc="300" kern="0" dirty="0">
                <a:solidFill>
                  <a:srgbClr val="B91C1C"/>
                </a:solidFill>
                <a:latin typeface="Calibri" pitchFamily="34" charset="0"/>
                <a:ea typeface="Calibri" pitchFamily="34" charset="-122"/>
                <a:cs typeface="Calibri" pitchFamily="34" charset="-120"/>
              </a:rPr>
              <a:t>Conclusión</a:t>
            </a:r>
            <a:endParaRPr lang="en-US" sz="1100" dirty="0"/>
          </a:p>
        </p:txBody>
      </p:sp>
      <p:sp>
        <p:nvSpPr>
          <p:cNvPr id="18" name="Text 14"/>
          <p:cNvSpPr/>
          <p:nvPr/>
        </p:nvSpPr>
        <p:spPr>
          <a:xfrm>
            <a:off x="6400800" y="4846320"/>
            <a:ext cx="4937760" cy="128016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La pérdida FOCAL obtiene el mejor recall (0.605) y mejor F1 (0.683) de la clase de riesgo. Coherente con su diseño: prioriza ejemplos difíciles.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1C1C"/>
          </a:solidFill>
          <a:ln w="12700">
            <a:solidFill>
              <a:srgbClr val="B91C1C"/>
            </a:solidFill>
            <a:prstDash val="solid"/>
          </a:ln>
        </p:spPr>
      </p:sp>
      <p:sp>
        <p:nvSpPr>
          <p:cNvPr id="3" name="Text 1"/>
          <p:cNvSpPr/>
          <p:nvPr/>
        </p:nvSpPr>
        <p:spPr>
          <a:xfrm>
            <a:off x="411480" y="274320"/>
            <a:ext cx="822960" cy="32004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10/14</a:t>
            </a:r>
            <a:endParaRPr lang="en-US" sz="1100" dirty="0"/>
          </a:p>
        </p:txBody>
      </p:sp>
      <p:sp>
        <p:nvSpPr>
          <p:cNvPr id="4" name="Text 2"/>
          <p:cNvSpPr/>
          <p:nvPr/>
        </p:nvSpPr>
        <p:spPr>
          <a:xfrm>
            <a:off x="411480" y="502920"/>
            <a:ext cx="1136873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Interpretabilidad (Grad-CAM)</a:t>
            </a:r>
            <a:endParaRPr lang="en-US" sz="28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¿Mira el modelo donde están las grietas?</a:t>
            </a:r>
            <a:endParaRPr lang="en-US" sz="1400" dirty="0"/>
          </a:p>
        </p:txBody>
      </p:sp>
      <p:sp>
        <p:nvSpPr>
          <p:cNvPr id="6" name="Text 4"/>
          <p:cNvSpPr/>
          <p:nvPr/>
        </p:nvSpPr>
        <p:spPr>
          <a:xfrm>
            <a:off x="411480" y="6473952"/>
            <a:ext cx="11368735"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Grupo Nº 1 - MIA UNI 2026-1 · Clasificación de llantas dañadas (CNN + transfer learning)</a:t>
            </a:r>
            <a:endParaRPr lang="en-US" sz="900" dirty="0"/>
          </a:p>
        </p:txBody>
      </p:sp>
      <p:pic>
        <p:nvPicPr>
          <p:cNvPr id="7" name="Image 0" descr="/home/claude/tire-damage-cnn/outputs/figures/gradcam_resnet50.png">    </p:cNvPr>
          <p:cNvPicPr>
            <a:picLocks noChangeAspect="1"/>
          </p:cNvPicPr>
          <p:nvPr/>
        </p:nvPicPr>
        <p:blipFill>
          <a:blip r:embed="rId1"/>
          <a:srcRect l="0" r="0" t="0" b="0"/>
          <a:stretch/>
        </p:blipFill>
        <p:spPr>
          <a:xfrm>
            <a:off x="640080" y="1828800"/>
            <a:ext cx="10972800" cy="3246120"/>
          </a:xfrm>
          <a:prstGeom prst="rect">
            <a:avLst/>
          </a:prstGeom>
        </p:spPr>
      </p:pic>
      <p:sp>
        <p:nvSpPr>
          <p:cNvPr id="8" name="Shape 5"/>
          <p:cNvSpPr/>
          <p:nvPr/>
        </p:nvSpPr>
        <p:spPr>
          <a:xfrm>
            <a:off x="640080" y="5257800"/>
            <a:ext cx="5394960" cy="1005840"/>
          </a:xfrm>
          <a:prstGeom prst="rect">
            <a:avLst/>
          </a:prstGeom>
          <a:solidFill>
            <a:srgbClr val="F1F5F9"/>
          </a:solidFill>
          <a:ln w="9525">
            <a:solidFill>
              <a:srgbClr val="E2E8F0"/>
            </a:solidFill>
            <a:prstDash val="solid"/>
          </a:ln>
        </p:spPr>
      </p:sp>
      <p:sp>
        <p:nvSpPr>
          <p:cNvPr id="9" name="Text 6"/>
          <p:cNvSpPr/>
          <p:nvPr/>
        </p:nvSpPr>
        <p:spPr>
          <a:xfrm>
            <a:off x="868680" y="5330952"/>
            <a:ext cx="4937760" cy="320040"/>
          </a:xfrm>
          <a:prstGeom prst="rect">
            <a:avLst/>
          </a:prstGeom>
          <a:noFill/>
          <a:ln/>
        </p:spPr>
        <p:txBody>
          <a:bodyPr wrap="square"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  En llantas dañadas (col. 1-3)</a:t>
            </a:r>
            <a:endParaRPr lang="en-US" sz="1300" dirty="0"/>
          </a:p>
        </p:txBody>
      </p:sp>
      <p:sp>
        <p:nvSpPr>
          <p:cNvPr id="10" name="Text 7"/>
          <p:cNvSpPr/>
          <p:nvPr/>
        </p:nvSpPr>
        <p:spPr>
          <a:xfrm>
            <a:off x="868680" y="5650992"/>
            <a:ext cx="4937760" cy="54864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El calor se concentra sobre las grietas y zonas de pérdida de relieve.</a:t>
            </a:r>
            <a:endParaRPr lang="en-US" sz="1200" dirty="0"/>
          </a:p>
        </p:txBody>
      </p:sp>
      <p:sp>
        <p:nvSpPr>
          <p:cNvPr id="11" name="Shape 8"/>
          <p:cNvSpPr/>
          <p:nvPr/>
        </p:nvSpPr>
        <p:spPr>
          <a:xfrm>
            <a:off x="6172200" y="5257800"/>
            <a:ext cx="5394960" cy="1005840"/>
          </a:xfrm>
          <a:prstGeom prst="rect">
            <a:avLst/>
          </a:prstGeom>
          <a:solidFill>
            <a:srgbClr val="F1F5F9"/>
          </a:solidFill>
          <a:ln w="9525">
            <a:solidFill>
              <a:srgbClr val="E2E8F0"/>
            </a:solidFill>
            <a:prstDash val="solid"/>
          </a:ln>
        </p:spPr>
      </p:sp>
      <p:sp>
        <p:nvSpPr>
          <p:cNvPr id="12" name="Text 9"/>
          <p:cNvSpPr/>
          <p:nvPr/>
        </p:nvSpPr>
        <p:spPr>
          <a:xfrm>
            <a:off x="6400800" y="5330952"/>
            <a:ext cx="4937760" cy="320040"/>
          </a:xfrm>
          <a:prstGeom prst="rect">
            <a:avLst/>
          </a:prstGeom>
          <a:noFill/>
          <a:ln/>
        </p:spPr>
        <p:txBody>
          <a:bodyPr wrap="square"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  En llantas sanas (col. 4-6)</a:t>
            </a:r>
            <a:endParaRPr lang="en-US" sz="1300" dirty="0"/>
          </a:p>
        </p:txBody>
      </p:sp>
      <p:sp>
        <p:nvSpPr>
          <p:cNvPr id="13" name="Text 10"/>
          <p:cNvSpPr/>
          <p:nvPr/>
        </p:nvSpPr>
        <p:spPr>
          <a:xfrm>
            <a:off x="6400800" y="5650992"/>
            <a:ext cx="4937760" cy="54864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La activación hacia 'dañada' es difusa o periférica, sin foco textural claro.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1C1C"/>
          </a:solidFill>
          <a:ln w="12700">
            <a:solidFill>
              <a:srgbClr val="B91C1C"/>
            </a:solidFill>
            <a:prstDash val="solid"/>
          </a:ln>
        </p:spPr>
      </p:sp>
      <p:sp>
        <p:nvSpPr>
          <p:cNvPr id="3" name="Text 1"/>
          <p:cNvSpPr/>
          <p:nvPr/>
        </p:nvSpPr>
        <p:spPr>
          <a:xfrm>
            <a:off x="411480" y="274320"/>
            <a:ext cx="822960" cy="32004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11/14</a:t>
            </a:r>
            <a:endParaRPr lang="en-US" sz="1100" dirty="0"/>
          </a:p>
        </p:txBody>
      </p:sp>
      <p:sp>
        <p:nvSpPr>
          <p:cNvPr id="4" name="Text 2"/>
          <p:cNvSpPr/>
          <p:nvPr/>
        </p:nvSpPr>
        <p:spPr>
          <a:xfrm>
            <a:off x="411480" y="502920"/>
            <a:ext cx="1136873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Análisis cualitativo de fallos</a:t>
            </a:r>
            <a:endParaRPr lang="en-US" sz="28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Los 6 errores más confiados de ResNet-50</a:t>
            </a:r>
            <a:endParaRPr lang="en-US" sz="1400" dirty="0"/>
          </a:p>
        </p:txBody>
      </p:sp>
      <p:sp>
        <p:nvSpPr>
          <p:cNvPr id="6" name="Text 4"/>
          <p:cNvSpPr/>
          <p:nvPr/>
        </p:nvSpPr>
        <p:spPr>
          <a:xfrm>
            <a:off x="411480" y="6473952"/>
            <a:ext cx="11368735"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Grupo Nº 1 - MIA UNI 2026-1 · Clasificación de llantas dañadas (CNN + transfer learning)</a:t>
            </a:r>
            <a:endParaRPr lang="en-US" sz="900" dirty="0"/>
          </a:p>
        </p:txBody>
      </p:sp>
      <p:pic>
        <p:nvPicPr>
          <p:cNvPr id="7" name="Image 0" descr="/home/claude/tire-damage-cnn/outputs/figures/fallos.png">    </p:cNvPr>
          <p:cNvPicPr>
            <a:picLocks noChangeAspect="1"/>
          </p:cNvPicPr>
          <p:nvPr/>
        </p:nvPicPr>
        <p:blipFill>
          <a:blip r:embed="rId1"/>
          <a:srcRect l="0" r="0" t="0" b="0"/>
          <a:stretch/>
        </p:blipFill>
        <p:spPr>
          <a:xfrm>
            <a:off x="640080" y="1783080"/>
            <a:ext cx="6858000" cy="4480560"/>
          </a:xfrm>
          <a:prstGeom prst="rect">
            <a:avLst/>
          </a:prstGeom>
        </p:spPr>
      </p:pic>
      <p:sp>
        <p:nvSpPr>
          <p:cNvPr id="8" name="Shape 5"/>
          <p:cNvSpPr/>
          <p:nvPr/>
        </p:nvSpPr>
        <p:spPr>
          <a:xfrm>
            <a:off x="7680960" y="1783080"/>
            <a:ext cx="3931920" cy="4480560"/>
          </a:xfrm>
          <a:prstGeom prst="rect">
            <a:avLst/>
          </a:prstGeom>
          <a:solidFill>
            <a:srgbClr val="FEE2E2"/>
          </a:solidFill>
          <a:ln w="9525">
            <a:solidFill>
              <a:srgbClr val="B91C1C"/>
            </a:solidFill>
            <a:prstDash val="solid"/>
          </a:ln>
        </p:spPr>
      </p:sp>
      <p:sp>
        <p:nvSpPr>
          <p:cNvPr id="9" name="Text 6"/>
          <p:cNvSpPr/>
          <p:nvPr/>
        </p:nvSpPr>
        <p:spPr>
          <a:xfrm>
            <a:off x="7863840" y="1874520"/>
            <a:ext cx="3657600" cy="320040"/>
          </a:xfrm>
          <a:prstGeom prst="rect">
            <a:avLst/>
          </a:prstGeom>
          <a:noFill/>
          <a:ln/>
        </p:spPr>
        <p:txBody>
          <a:bodyPr wrap="square" rtlCol="0" anchor="ctr"/>
          <a:lstStyle/>
          <a:p>
            <a:pPr indent="0" marL="0">
              <a:buNone/>
            </a:pPr>
            <a:r>
              <a:rPr lang="en-US" sz="1100" b="1" spc="300" kern="0" dirty="0">
                <a:solidFill>
                  <a:srgbClr val="B91C1C"/>
                </a:solidFill>
                <a:latin typeface="Calibri" pitchFamily="34" charset="0"/>
                <a:ea typeface="Calibri" pitchFamily="34" charset="-122"/>
                <a:cs typeface="Calibri" pitchFamily="34" charset="-120"/>
              </a:rPr>
              <a:t>HALLAZGO</a:t>
            </a:r>
            <a:endParaRPr lang="en-US" sz="1100" dirty="0"/>
          </a:p>
        </p:txBody>
      </p:sp>
      <p:sp>
        <p:nvSpPr>
          <p:cNvPr id="10" name="Text 7"/>
          <p:cNvSpPr/>
          <p:nvPr/>
        </p:nvSpPr>
        <p:spPr>
          <a:xfrm>
            <a:off x="7863840" y="2194560"/>
            <a:ext cx="365760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Los 6 son FALSOS NEGATIVOS</a:t>
            </a:r>
            <a:endParaRPr lang="en-US" sz="1700" dirty="0"/>
          </a:p>
        </p:txBody>
      </p:sp>
      <p:sp>
        <p:nvSpPr>
          <p:cNvPr id="11" name="Text 8"/>
          <p:cNvSpPr/>
          <p:nvPr/>
        </p:nvSpPr>
        <p:spPr>
          <a:xfrm>
            <a:off x="7863840" y="2670048"/>
            <a:ext cx="3657600" cy="594360"/>
          </a:xfrm>
          <a:prstGeom prst="rect">
            <a:avLst/>
          </a:prstGeom>
          <a:noFill/>
          <a:ln/>
        </p:spPr>
        <p:txBody>
          <a:bodyPr wrap="square" rtlCol="0" anchor="t"/>
          <a:lstStyle/>
          <a:p>
            <a:pPr indent="0" marL="0">
              <a:buNone/>
            </a:pPr>
            <a:r>
              <a:rPr lang="en-US" sz="1200" dirty="0">
                <a:solidFill>
                  <a:srgbClr val="1E293B"/>
                </a:solidFill>
                <a:latin typeface="Calibri" pitchFamily="34" charset="0"/>
                <a:ea typeface="Calibri" pitchFamily="34" charset="-122"/>
                <a:cs typeface="Calibri" pitchFamily="34" charset="-120"/>
              </a:rPr>
              <a:t>Llantas realmente agrietadas clasificadas como sanas con P(cracked) &lt; 0.03.</a:t>
            </a:r>
            <a:endParaRPr lang="en-US" sz="1200" dirty="0"/>
          </a:p>
        </p:txBody>
      </p:sp>
      <p:sp>
        <p:nvSpPr>
          <p:cNvPr id="12" name="Text 9"/>
          <p:cNvSpPr/>
          <p:nvPr/>
        </p:nvSpPr>
        <p:spPr>
          <a:xfrm>
            <a:off x="7863840" y="3429000"/>
            <a:ext cx="3657600" cy="320040"/>
          </a:xfrm>
          <a:prstGeom prst="rect">
            <a:avLst/>
          </a:prstGeom>
          <a:noFill/>
          <a:ln/>
        </p:spPr>
        <p:txBody>
          <a:bodyPr wrap="square" rtlCol="0" anchor="ctr"/>
          <a:lstStyle/>
          <a:p>
            <a:pPr indent="0" marL="0">
              <a:buNone/>
            </a:pPr>
            <a:r>
              <a:rPr lang="en-US" sz="1100" b="1" spc="300" kern="0" dirty="0">
                <a:solidFill>
                  <a:srgbClr val="B91C1C"/>
                </a:solidFill>
                <a:latin typeface="Calibri" pitchFamily="34" charset="0"/>
                <a:ea typeface="Calibri" pitchFamily="34" charset="-122"/>
                <a:cs typeface="Calibri" pitchFamily="34" charset="-120"/>
              </a:rPr>
              <a:t>HIPÓTESIS</a:t>
            </a:r>
            <a:endParaRPr lang="en-US" sz="1100" dirty="0"/>
          </a:p>
        </p:txBody>
      </p:sp>
      <p:sp>
        <p:nvSpPr>
          <p:cNvPr id="13" name="Text 10"/>
          <p:cNvSpPr/>
          <p:nvPr/>
        </p:nvSpPr>
        <p:spPr>
          <a:xfrm>
            <a:off x="7863840" y="3749040"/>
            <a:ext cx="3657600" cy="2423160"/>
          </a:xfrm>
          <a:prstGeom prst="rect">
            <a:avLst/>
          </a:prstGeom>
          <a:noFill/>
          <a:ln/>
        </p:spPr>
        <p:txBody>
          <a:bodyPr wrap="square" rtlCol="0" anchor="t"/>
          <a:lstStyle/>
          <a:p>
            <a:pPr marL="342900" indent="-342900">
              <a:spcAft>
                <a:spcPts val="800"/>
              </a:spcAft>
              <a:buSzPct val="100000"/>
              <a:buChar char="■"/>
            </a:pPr>
            <a:r>
              <a:rPr lang="en-US" sz="1100" dirty="0">
                <a:solidFill>
                  <a:srgbClr val="0F172A"/>
                </a:solidFill>
                <a:latin typeface="Calibri" pitchFamily="34" charset="0"/>
                <a:ea typeface="Calibri" pitchFamily="34" charset="-122"/>
                <a:cs typeface="Calibri" pitchFamily="34" charset="-120"/>
              </a:rPr>
              <a:t>Flancos con relieve y letras en altorrelieve que dominan la textura.</a:t>
            </a:r>
            <a:endParaRPr lang="en-US" sz="1100" dirty="0"/>
          </a:p>
          <a:p>
            <a:pPr marL="342900" indent="-342900">
              <a:spcAft>
                <a:spcPts val="800"/>
              </a:spcAft>
              <a:buSzPct val="100000"/>
              <a:buChar char="■"/>
            </a:pPr>
            <a:r>
              <a:rPr lang="en-US" sz="1100" dirty="0">
                <a:solidFill>
                  <a:srgbClr val="0F172A"/>
                </a:solidFill>
                <a:latin typeface="Calibri" pitchFamily="34" charset="0"/>
                <a:ea typeface="Calibri" pitchFamily="34" charset="-122"/>
                <a:cs typeface="Calibri" pitchFamily="34" charset="-120"/>
              </a:rPr>
              <a:t>Grietas finas que se pierden al reducir a 128×128.</a:t>
            </a:r>
            <a:endParaRPr lang="en-US" sz="1100" dirty="0"/>
          </a:p>
          <a:p>
            <a:pPr marL="342900" indent="-342900">
              <a:spcAft>
                <a:spcPts val="800"/>
              </a:spcAft>
              <a:buSzPct val="100000"/>
              <a:buChar char="■"/>
            </a:pPr>
            <a:r>
              <a:rPr lang="en-US" sz="1100" dirty="0">
                <a:solidFill>
                  <a:srgbClr val="0F172A"/>
                </a:solidFill>
                <a:latin typeface="Calibri" pitchFamily="34" charset="0"/>
                <a:ea typeface="Calibri" pitchFamily="34" charset="-122"/>
                <a:cs typeface="Calibri" pitchFamily="34" charset="-120"/>
              </a:rPr>
              <a:t>Sobreexposición que reduce el contraste de las fisuras.</a:t>
            </a:r>
            <a:endParaRPr lang="en-US" sz="1100" dirty="0"/>
          </a:p>
          <a:p>
            <a:pPr marL="342900" indent="-342900">
              <a:spcAft>
                <a:spcPts val="800"/>
              </a:spcAft>
              <a:buSzPct val="100000"/>
              <a:buChar char="■"/>
            </a:pPr>
            <a:r>
              <a:rPr lang="en-US" sz="1100" dirty="0">
                <a:solidFill>
                  <a:srgbClr val="0F172A"/>
                </a:solidFill>
                <a:latin typeface="Calibri" pitchFamily="34" charset="0"/>
                <a:ea typeface="Calibri" pitchFamily="34" charset="-122"/>
                <a:cs typeface="Calibri" pitchFamily="34" charset="-120"/>
              </a:rPr>
              <a:t>Desplazamiento de distribución hacia el test.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1C1C"/>
          </a:solidFill>
          <a:ln w="12700">
            <a:solidFill>
              <a:srgbClr val="B91C1C"/>
            </a:solidFill>
            <a:prstDash val="solid"/>
          </a:ln>
        </p:spPr>
      </p:sp>
      <p:sp>
        <p:nvSpPr>
          <p:cNvPr id="3" name="Text 1"/>
          <p:cNvSpPr/>
          <p:nvPr/>
        </p:nvSpPr>
        <p:spPr>
          <a:xfrm>
            <a:off x="411480" y="274320"/>
            <a:ext cx="822960" cy="32004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12/14</a:t>
            </a:r>
            <a:endParaRPr lang="en-US" sz="1100" dirty="0"/>
          </a:p>
        </p:txBody>
      </p:sp>
      <p:sp>
        <p:nvSpPr>
          <p:cNvPr id="4" name="Text 2"/>
          <p:cNvSpPr/>
          <p:nvPr/>
        </p:nvSpPr>
        <p:spPr>
          <a:xfrm>
            <a:off x="411480" y="502920"/>
            <a:ext cx="1136873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Discusión y limitaciones</a:t>
            </a:r>
            <a:endParaRPr lang="en-US" sz="2800" dirty="0"/>
          </a:p>
        </p:txBody>
      </p:sp>
      <p:sp>
        <p:nvSpPr>
          <p:cNvPr id="5" name="Text 3"/>
          <p:cNvSpPr/>
          <p:nvPr/>
        </p:nvSpPr>
        <p:spPr>
          <a:xfrm>
            <a:off x="411480" y="1097280"/>
            <a:ext cx="1136873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Lectura crítica del trabajo</a:t>
            </a:r>
            <a:endParaRPr lang="en-US" sz="1400" dirty="0"/>
          </a:p>
        </p:txBody>
      </p:sp>
      <p:sp>
        <p:nvSpPr>
          <p:cNvPr id="6" name="Text 4"/>
          <p:cNvSpPr/>
          <p:nvPr/>
        </p:nvSpPr>
        <p:spPr>
          <a:xfrm>
            <a:off x="411480" y="6473952"/>
            <a:ext cx="11368735"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Grupo Nº 1 - MIA UNI 2026-1 · Clasificación de llantas dañadas (CNN + transfer learning)</a:t>
            </a:r>
            <a:endParaRPr lang="en-US" sz="900" dirty="0"/>
          </a:p>
        </p:txBody>
      </p:sp>
      <p:sp>
        <p:nvSpPr>
          <p:cNvPr id="7" name="Shape 5"/>
          <p:cNvSpPr/>
          <p:nvPr/>
        </p:nvSpPr>
        <p:spPr>
          <a:xfrm>
            <a:off x="640080" y="1874520"/>
            <a:ext cx="5394960" cy="4297680"/>
          </a:xfrm>
          <a:prstGeom prst="rect">
            <a:avLst/>
          </a:prstGeom>
          <a:solidFill>
            <a:srgbClr val="F1F5F9"/>
          </a:solidFill>
          <a:ln w="9525">
            <a:solidFill>
              <a:srgbClr val="E2E8F0"/>
            </a:solidFill>
            <a:prstDash val="solid"/>
          </a:ln>
        </p:spPr>
      </p:sp>
      <p:sp>
        <p:nvSpPr>
          <p:cNvPr id="8" name="Shape 6"/>
          <p:cNvSpPr/>
          <p:nvPr/>
        </p:nvSpPr>
        <p:spPr>
          <a:xfrm>
            <a:off x="640080" y="1874520"/>
            <a:ext cx="5394960" cy="502920"/>
          </a:xfrm>
          <a:prstGeom prst="rect">
            <a:avLst/>
          </a:prstGeom>
          <a:solidFill>
            <a:srgbClr val="0F766E"/>
          </a:solidFill>
          <a:ln w="12700">
            <a:solidFill>
              <a:srgbClr val="0F766E"/>
            </a:solidFill>
            <a:prstDash val="solid"/>
          </a:ln>
        </p:spPr>
      </p:sp>
      <p:sp>
        <p:nvSpPr>
          <p:cNvPr id="9" name="Text 7"/>
          <p:cNvSpPr/>
          <p:nvPr/>
        </p:nvSpPr>
        <p:spPr>
          <a:xfrm>
            <a:off x="777240" y="1920240"/>
            <a:ext cx="5120640" cy="41148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HALLAZGOS PRINCIPALES</a:t>
            </a:r>
            <a:endParaRPr lang="en-US" sz="1600" dirty="0"/>
          </a:p>
        </p:txBody>
      </p:sp>
      <p:sp>
        <p:nvSpPr>
          <p:cNvPr id="10" name="Text 8"/>
          <p:cNvSpPr/>
          <p:nvPr/>
        </p:nvSpPr>
        <p:spPr>
          <a:xfrm>
            <a:off x="868680" y="2560320"/>
            <a:ext cx="5029200" cy="3657600"/>
          </a:xfrm>
          <a:prstGeom prst="rect">
            <a:avLst/>
          </a:prstGeom>
          <a:noFill/>
          <a:ln/>
        </p:spPr>
        <p:txBody>
          <a:bodyPr wrap="square" rtlCol="0" anchor="t"/>
          <a:lstStyle/>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Transfer learning con fine-tuning parcial &gt;&gt; CNN desde cero (AUC 0.95 vs 0.76).</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Modo de fallo crítico: falsos negativos sobre la clase de riesgo.</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Bajo desbalance INVERTIDO entre particiones, la pérdida FOCAL &gt; ponderación de clases.</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Grad-CAM confirma que el modelo localiza las grietas (no atajos espurios).</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La recalibración de umbral es la palanca más prometedora para subir el recall.</a:t>
            </a:r>
            <a:endParaRPr lang="en-US" sz="1300" dirty="0"/>
          </a:p>
        </p:txBody>
      </p:sp>
      <p:sp>
        <p:nvSpPr>
          <p:cNvPr id="11" name="Shape 9"/>
          <p:cNvSpPr/>
          <p:nvPr/>
        </p:nvSpPr>
        <p:spPr>
          <a:xfrm>
            <a:off x="6172200" y="1874520"/>
            <a:ext cx="5394960" cy="4297680"/>
          </a:xfrm>
          <a:prstGeom prst="rect">
            <a:avLst/>
          </a:prstGeom>
          <a:solidFill>
            <a:srgbClr val="F1F5F9"/>
          </a:solidFill>
          <a:ln w="9525">
            <a:solidFill>
              <a:srgbClr val="E2E8F0"/>
            </a:solidFill>
            <a:prstDash val="solid"/>
          </a:ln>
        </p:spPr>
      </p:sp>
      <p:sp>
        <p:nvSpPr>
          <p:cNvPr id="12" name="Shape 10"/>
          <p:cNvSpPr/>
          <p:nvPr/>
        </p:nvSpPr>
        <p:spPr>
          <a:xfrm>
            <a:off x="6172200" y="1874520"/>
            <a:ext cx="5394960" cy="502920"/>
          </a:xfrm>
          <a:prstGeom prst="rect">
            <a:avLst/>
          </a:prstGeom>
          <a:solidFill>
            <a:srgbClr val="B91C1C"/>
          </a:solidFill>
          <a:ln w="12700">
            <a:solidFill>
              <a:srgbClr val="B91C1C"/>
            </a:solidFill>
            <a:prstDash val="solid"/>
          </a:ln>
        </p:spPr>
      </p:sp>
      <p:sp>
        <p:nvSpPr>
          <p:cNvPr id="13" name="Text 11"/>
          <p:cNvSpPr/>
          <p:nvPr/>
        </p:nvSpPr>
        <p:spPr>
          <a:xfrm>
            <a:off x="6309360" y="1920240"/>
            <a:ext cx="5120640" cy="41148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LIMITACIONES</a:t>
            </a:r>
            <a:endParaRPr lang="en-US" sz="1600" dirty="0"/>
          </a:p>
        </p:txBody>
      </p:sp>
      <p:sp>
        <p:nvSpPr>
          <p:cNvPr id="14" name="Text 12"/>
          <p:cNvSpPr/>
          <p:nvPr/>
        </p:nvSpPr>
        <p:spPr>
          <a:xfrm>
            <a:off x="6400800" y="2560320"/>
            <a:ext cx="5029200" cy="3657600"/>
          </a:xfrm>
          <a:prstGeom prst="rect">
            <a:avLst/>
          </a:prstGeom>
          <a:noFill/>
          <a:ln/>
        </p:spPr>
        <p:txBody>
          <a:bodyPr wrap="square" rtlCol="0" anchor="t"/>
          <a:lstStyle/>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Cómputo: CPU 1 núcleo, sin GPU → imágenes a 128×128 y épocas limitadas.</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Tamaño del conjunto: ~600 imágenes de entrenamiento → alta varianza, riesgo de sobreajuste.</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Desplazamiento de distribución entre train y test (desbalance invertido).</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Grad-CAM a baja resolución espacial (4×4 reescalado): cualitativo, no para localización fina.</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Aumento puramente geométrico, sin variaciones de textura/iluminación.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1C1C"/>
          </a:solidFill>
          <a:ln w="12700">
            <a:solidFill>
              <a:srgbClr val="B91C1C"/>
            </a:solidFill>
            <a:prstDash val="solid"/>
          </a:ln>
        </p:spPr>
      </p:sp>
      <p:sp>
        <p:nvSpPr>
          <p:cNvPr id="3" name="Text 1"/>
          <p:cNvSpPr/>
          <p:nvPr/>
        </p:nvSpPr>
        <p:spPr>
          <a:xfrm>
            <a:off x="411480" y="274320"/>
            <a:ext cx="822960" cy="32004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13/14</a:t>
            </a:r>
            <a:endParaRPr lang="en-US" sz="1100" dirty="0"/>
          </a:p>
        </p:txBody>
      </p:sp>
      <p:sp>
        <p:nvSpPr>
          <p:cNvPr id="4" name="Text 2"/>
          <p:cNvSpPr/>
          <p:nvPr/>
        </p:nvSpPr>
        <p:spPr>
          <a:xfrm>
            <a:off x="411480" y="502920"/>
            <a:ext cx="1136873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Conclusiones y trabajo futuro</a:t>
            </a:r>
            <a:endParaRPr lang="en-US" sz="2800" dirty="0"/>
          </a:p>
        </p:txBody>
      </p:sp>
      <p:sp>
        <p:nvSpPr>
          <p:cNvPr id="5" name="Text 3"/>
          <p:cNvSpPr/>
          <p:nvPr/>
        </p:nvSpPr>
        <p:spPr>
          <a:xfrm>
            <a:off x="411480" y="6473952"/>
            <a:ext cx="11368735"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Grupo Nº 1 - MIA UNI 2026-1 · Clasificación de llantas dañadas (CNN + transfer learning)</a:t>
            </a:r>
            <a:endParaRPr lang="en-US" sz="900" dirty="0"/>
          </a:p>
        </p:txBody>
      </p:sp>
      <p:sp>
        <p:nvSpPr>
          <p:cNvPr id="6" name="Shape 4"/>
          <p:cNvSpPr/>
          <p:nvPr/>
        </p:nvSpPr>
        <p:spPr>
          <a:xfrm>
            <a:off x="640080" y="1783080"/>
            <a:ext cx="6400800" cy="4480560"/>
          </a:xfrm>
          <a:prstGeom prst="rect">
            <a:avLst/>
          </a:prstGeom>
          <a:solidFill>
            <a:srgbClr val="0F172A"/>
          </a:solidFill>
          <a:ln w="9525">
            <a:solidFill>
              <a:srgbClr val="0F172A"/>
            </a:solidFill>
            <a:prstDash val="solid"/>
          </a:ln>
        </p:spPr>
      </p:sp>
      <p:sp>
        <p:nvSpPr>
          <p:cNvPr id="7" name="Text 5"/>
          <p:cNvSpPr/>
          <p:nvPr/>
        </p:nvSpPr>
        <p:spPr>
          <a:xfrm>
            <a:off x="868680" y="1920240"/>
            <a:ext cx="6126480" cy="320040"/>
          </a:xfrm>
          <a:prstGeom prst="rect">
            <a:avLst/>
          </a:prstGeom>
          <a:noFill/>
          <a:ln/>
        </p:spPr>
        <p:txBody>
          <a:bodyPr wrap="square" rtlCol="0" anchor="ctr"/>
          <a:lstStyle/>
          <a:p>
            <a:pPr indent="0" marL="0">
              <a:buNone/>
            </a:pPr>
            <a:r>
              <a:rPr lang="en-US" sz="1100" b="1" spc="300" kern="0" dirty="0">
                <a:solidFill>
                  <a:srgbClr val="F59E0B"/>
                </a:solidFill>
                <a:latin typeface="Calibri" pitchFamily="34" charset="0"/>
                <a:ea typeface="Calibri" pitchFamily="34" charset="-122"/>
                <a:cs typeface="Calibri" pitchFamily="34" charset="-120"/>
              </a:rPr>
              <a:t>CONCLUSIONES</a:t>
            </a:r>
            <a:endParaRPr lang="en-US" sz="1100" dirty="0"/>
          </a:p>
        </p:txBody>
      </p:sp>
      <p:sp>
        <p:nvSpPr>
          <p:cNvPr id="8" name="Text 6"/>
          <p:cNvSpPr/>
          <p:nvPr/>
        </p:nvSpPr>
        <p:spPr>
          <a:xfrm>
            <a:off x="868680" y="2240280"/>
            <a:ext cx="6126480" cy="50292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Un sistema reproducible de clasificación de llantas dañadas por textura</a:t>
            </a:r>
            <a:endParaRPr lang="en-US" sz="1700" dirty="0"/>
          </a:p>
        </p:txBody>
      </p:sp>
      <p:sp>
        <p:nvSpPr>
          <p:cNvPr id="9" name="Text 7"/>
          <p:cNvSpPr/>
          <p:nvPr/>
        </p:nvSpPr>
        <p:spPr>
          <a:xfrm>
            <a:off x="868680" y="2880360"/>
            <a:ext cx="6126480" cy="3291840"/>
          </a:xfrm>
          <a:prstGeom prst="rect">
            <a:avLst/>
          </a:prstGeom>
          <a:noFill/>
          <a:ln/>
        </p:spPr>
        <p:txBody>
          <a:bodyPr wrap="square"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ResNet-50 con fine-tuning parcial alcanzó AUC-ROC = 0.946 y F1 = 0.803 en prueba.</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Superó por amplio margen a la CNN diseñada desde cero (AUC 0.764).</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Estudio integral: comparativa, ablación, desbalance, Grad-CAM, fallos.</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Reto principal pendiente: aumentar el recall de la clase de daño (reducir falsos negativos).</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Código reproducible de extremo a extremo con un solo comando.</a:t>
            </a:r>
            <a:endParaRPr lang="en-US" sz="1300" dirty="0"/>
          </a:p>
        </p:txBody>
      </p:sp>
      <p:sp>
        <p:nvSpPr>
          <p:cNvPr id="10" name="Shape 8"/>
          <p:cNvSpPr/>
          <p:nvPr/>
        </p:nvSpPr>
        <p:spPr>
          <a:xfrm>
            <a:off x="7086600" y="1783080"/>
            <a:ext cx="4572000" cy="4480560"/>
          </a:xfrm>
          <a:prstGeom prst="rect">
            <a:avLst/>
          </a:prstGeom>
          <a:solidFill>
            <a:srgbClr val="F1F5F9"/>
          </a:solidFill>
          <a:ln w="9525">
            <a:solidFill>
              <a:srgbClr val="E2E8F0"/>
            </a:solidFill>
            <a:prstDash val="solid"/>
          </a:ln>
        </p:spPr>
      </p:sp>
      <p:sp>
        <p:nvSpPr>
          <p:cNvPr id="11" name="Text 9"/>
          <p:cNvSpPr/>
          <p:nvPr/>
        </p:nvSpPr>
        <p:spPr>
          <a:xfrm>
            <a:off x="7315200" y="1920240"/>
            <a:ext cx="4297680" cy="320040"/>
          </a:xfrm>
          <a:prstGeom prst="rect">
            <a:avLst/>
          </a:prstGeom>
          <a:noFill/>
          <a:ln/>
        </p:spPr>
        <p:txBody>
          <a:bodyPr wrap="square" rtlCol="0" anchor="ctr"/>
          <a:lstStyle/>
          <a:p>
            <a:pPr indent="0" marL="0">
              <a:buNone/>
            </a:pPr>
            <a:r>
              <a:rPr lang="en-US" sz="1100" b="1" spc="300" kern="0" dirty="0">
                <a:solidFill>
                  <a:srgbClr val="B91C1C"/>
                </a:solidFill>
                <a:latin typeface="Calibri" pitchFamily="34" charset="0"/>
                <a:ea typeface="Calibri" pitchFamily="34" charset="-122"/>
                <a:cs typeface="Calibri" pitchFamily="34" charset="-120"/>
              </a:rPr>
              <a:t>TRABAJO FUTURO</a:t>
            </a:r>
            <a:endParaRPr lang="en-US" sz="1100" dirty="0"/>
          </a:p>
        </p:txBody>
      </p:sp>
      <p:sp>
        <p:nvSpPr>
          <p:cNvPr id="12" name="Text 10"/>
          <p:cNvSpPr/>
          <p:nvPr/>
        </p:nvSpPr>
        <p:spPr>
          <a:xfrm>
            <a:off x="7315200" y="2286000"/>
            <a:ext cx="4297680" cy="3931920"/>
          </a:xfrm>
          <a:prstGeom prst="rect">
            <a:avLst/>
          </a:prstGeom>
          <a:noFill/>
          <a:ln/>
        </p:spPr>
        <p:txBody>
          <a:bodyPr wrap="square" rtlCol="0" anchor="t"/>
          <a:lstStyle/>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Aumentar la resolución de entrada (224+) y el fine-tuning.</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Recalibración del umbral de decisión sobre datos representativos del despliegue.</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Aumento de datos específico de textura: recortes de alta resolución centrados en regiones candidatas.</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Validación cruzada para reducir varianza.</a:t>
            </a:r>
            <a:endParaRPr lang="en-US" sz="1300" dirty="0"/>
          </a:p>
          <a:p>
            <a:pPr marL="342900" indent="-342900">
              <a:spcAft>
                <a:spcPts val="800"/>
              </a:spcAft>
              <a:buSzPct val="100000"/>
              <a:buChar char="■"/>
            </a:pPr>
            <a:r>
              <a:rPr lang="en-US" sz="1300" dirty="0">
                <a:solidFill>
                  <a:srgbClr val="0F172A"/>
                </a:solidFill>
                <a:latin typeface="Calibri" pitchFamily="34" charset="0"/>
                <a:ea typeface="Calibri" pitchFamily="34" charset="-122"/>
                <a:cs typeface="Calibri" pitchFamily="34" charset="-120"/>
              </a:rPr>
              <a:t>Explorar backbones alternativos (EfficientNet, ConvNeXt) con regularización fuerte.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B91C1C"/>
          </a:solidFill>
          <a:ln w="12700">
            <a:solidFill>
              <a:srgbClr val="B91C1C"/>
            </a:solidFill>
            <a:prstDash val="solid"/>
          </a:ln>
        </p:spPr>
      </p:sp>
      <p:sp>
        <p:nvSpPr>
          <p:cNvPr id="3" name="Text 1"/>
          <p:cNvSpPr/>
          <p:nvPr/>
        </p:nvSpPr>
        <p:spPr>
          <a:xfrm>
            <a:off x="914400" y="2560320"/>
            <a:ext cx="10058400" cy="1188720"/>
          </a:xfrm>
          <a:prstGeom prst="rect">
            <a:avLst/>
          </a:prstGeom>
          <a:noFill/>
          <a:ln/>
        </p:spPr>
        <p:txBody>
          <a:bodyPr wrap="square" rtlCol="0" anchor="ctr"/>
          <a:lstStyle/>
          <a:p>
            <a:pPr algn="ctr" indent="0" marL="0">
              <a:buNone/>
            </a:pPr>
            <a:r>
              <a:rPr lang="en-US" sz="6000" b="1" spc="600" kern="0" dirty="0">
                <a:solidFill>
                  <a:srgbClr val="FFFFFF"/>
                </a:solidFill>
                <a:latin typeface="Georgia" pitchFamily="34" charset="0"/>
                <a:ea typeface="Georgia" pitchFamily="34" charset="-122"/>
                <a:cs typeface="Georgia" pitchFamily="34" charset="-120"/>
              </a:rPr>
              <a:t>¿PREGUNTAS?</a:t>
            </a:r>
            <a:endParaRPr lang="en-US" sz="6000" dirty="0"/>
          </a:p>
        </p:txBody>
      </p:sp>
      <p:sp>
        <p:nvSpPr>
          <p:cNvPr id="4" name="Text 2"/>
          <p:cNvSpPr/>
          <p:nvPr/>
        </p:nvSpPr>
        <p:spPr>
          <a:xfrm>
            <a:off x="914400" y="3657600"/>
            <a:ext cx="10058400" cy="548640"/>
          </a:xfrm>
          <a:prstGeom prst="rect">
            <a:avLst/>
          </a:prstGeom>
          <a:noFill/>
          <a:ln/>
        </p:spPr>
        <p:txBody>
          <a:bodyPr wrap="square" rtlCol="0" anchor="ctr"/>
          <a:lstStyle/>
          <a:p>
            <a:pPr algn="ctr" indent="0" marL="0">
              <a:buNone/>
            </a:pPr>
            <a:r>
              <a:rPr lang="en-US" sz="2200" i="1" dirty="0">
                <a:solidFill>
                  <a:srgbClr val="FCA5A5"/>
                </a:solidFill>
                <a:latin typeface="Calibri" pitchFamily="34" charset="0"/>
                <a:ea typeface="Calibri" pitchFamily="34" charset="-122"/>
                <a:cs typeface="Calibri" pitchFamily="34" charset="-120"/>
              </a:rPr>
              <a:t>Gracias por su atención.</a:t>
            </a:r>
            <a:endParaRPr lang="en-US" sz="2200" dirty="0"/>
          </a:p>
        </p:txBody>
      </p:sp>
      <p:sp>
        <p:nvSpPr>
          <p:cNvPr id="5" name="Shape 3"/>
          <p:cNvSpPr/>
          <p:nvPr/>
        </p:nvSpPr>
        <p:spPr>
          <a:xfrm>
            <a:off x="5029200" y="4434840"/>
            <a:ext cx="2103120" cy="0"/>
          </a:xfrm>
          <a:prstGeom prst="line">
            <a:avLst/>
          </a:prstGeom>
          <a:noFill/>
          <a:ln w="25400">
            <a:solidFill>
              <a:srgbClr val="B91C1C"/>
            </a:solidFill>
            <a:prstDash val="solid"/>
          </a:ln>
        </p:spPr>
      </p:sp>
      <p:sp>
        <p:nvSpPr>
          <p:cNvPr id="6" name="Text 4"/>
          <p:cNvSpPr/>
          <p:nvPr/>
        </p:nvSpPr>
        <p:spPr>
          <a:xfrm>
            <a:off x="914400" y="4663440"/>
            <a:ext cx="10058400" cy="365760"/>
          </a:xfrm>
          <a:prstGeom prst="rect">
            <a:avLst/>
          </a:prstGeom>
          <a:noFill/>
          <a:ln/>
        </p:spPr>
        <p:txBody>
          <a:bodyPr wrap="square" rtlCol="0" anchor="ctr"/>
          <a:lstStyle/>
          <a:p>
            <a:pPr algn="ctr" indent="0" marL="0">
              <a:buNone/>
            </a:pPr>
            <a:r>
              <a:rPr lang="en-US" sz="1400" dirty="0">
                <a:solidFill>
                  <a:srgbClr val="CBD5E1"/>
                </a:solidFill>
                <a:latin typeface="Calibri" pitchFamily="34" charset="0"/>
                <a:ea typeface="Calibri" pitchFamily="34" charset="-122"/>
                <a:cs typeface="Calibri" pitchFamily="34" charset="-120"/>
              </a:rPr>
              <a:t>Grupo Nº 1 — Maestría en Inteligencia Artificial (2026-1)</a:t>
            </a:r>
            <a:endParaRPr lang="en-US" sz="1400" dirty="0"/>
          </a:p>
        </p:txBody>
      </p:sp>
      <p:sp>
        <p:nvSpPr>
          <p:cNvPr id="7" name="Text 5"/>
          <p:cNvSpPr/>
          <p:nvPr/>
        </p:nvSpPr>
        <p:spPr>
          <a:xfrm>
            <a:off x="914400" y="5029200"/>
            <a:ext cx="10058400" cy="365760"/>
          </a:xfrm>
          <a:prstGeom prst="rect">
            <a:avLst/>
          </a:prstGeom>
          <a:noFill/>
          <a:ln/>
        </p:spPr>
        <p:txBody>
          <a:bodyPr wrap="square" rtlCol="0" anchor="ctr"/>
          <a:lstStyle/>
          <a:p>
            <a:pPr algn="ctr" indent="0" marL="0">
              <a:buNone/>
            </a:pPr>
            <a:r>
              <a:rPr lang="en-US" sz="1200" i="1" dirty="0">
                <a:solidFill>
                  <a:srgbClr val="94A3B8"/>
                </a:solidFill>
                <a:latin typeface="Calibri" pitchFamily="34" charset="0"/>
                <a:ea typeface="Calibri" pitchFamily="34" charset="-122"/>
                <a:cs typeface="Calibri" pitchFamily="34" charset="-120"/>
              </a:rPr>
              <a:t>Escuela de Posgrado · Universidad Nacional de Ingeniería (UNI), Perú</a:t>
            </a:r>
            <a:endParaRPr lang="en-US" sz="1200" dirty="0"/>
          </a:p>
        </p:txBody>
      </p:sp>
      <p:sp>
        <p:nvSpPr>
          <p:cNvPr id="8" name="Text 6"/>
          <p:cNvSpPr/>
          <p:nvPr/>
        </p:nvSpPr>
        <p:spPr>
          <a:xfrm>
            <a:off x="914400" y="6035040"/>
            <a:ext cx="10058400" cy="36576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Paul Bazan H.  ·  Valeria P. Bulege N.  ·  Oscar Dante Chaíña A.  ·  Elias O. Diaz C.  ·  Miguel A. Tasayco 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Clasificación de llantas dañadas</dc:title>
  <dc:subject>PptxGenJS Presentation</dc:subject>
  <dc:creator>Grupo Nº 1 - MIA UNI 2026-1</dc:creator>
  <cp:lastModifiedBy>Grupo Nº 1 - MIA UNI 2026-1</cp:lastModifiedBy>
  <cp:revision>1</cp:revision>
  <dcterms:created xsi:type="dcterms:W3CDTF">2026-05-29T20:51:22Z</dcterms:created>
  <dcterms:modified xsi:type="dcterms:W3CDTF">2026-05-29T20:51:22Z</dcterms:modified>
</cp:coreProperties>
</file>